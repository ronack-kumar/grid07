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the panel. GRID07 is a three-phase AI platform: persona routing, content generation, and injection-resistant combat engine — wrapped in a full-stack SaaS 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problem: no single open platform provides semantic routing + RAG + persona security together. GRID07 integrates all three via Groq's Llama model and LangGraph.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Hardware requirements are estimates; tested on a standard developer laptop. The only paid service is a Groq API key (free tier sufficient for demos).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Existing approaches are fragmented. GRID07 replaces all five limitations with a unified pipeline — semantic routing, persona isolation, RAG, dual-layer injection defence, and observability.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each of the three phases. Emphasise the 0.80 cosine threshold, the LangGraph pipeline, and the dual-layer injection defence. Clearly distinguish from proposed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REST modules form the backend API. All are implemented and exercised by the integration test 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Highlight that the Groq prompt-embedding is a known limitation — it is a prompt trick, not a real embedding endpoint. Point to the proposed enhancement for production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architecture top-down: Next.js → FastAPI → Services (PersonaRouter + LangGraph + Retrieval + InjectionDefence) → Groq API → SQLite/Postgres.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 a single request end-to-end. Emphasise the short-circuit branch: if no agent scores ≥ 0.80, no LLM call is made — no wasted tokens.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six tables are in app/models/__init__.py. The Execution table captures the full observability payload: routing decisions, retrieved context, latency, status progression.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cosine similarity function and the route_input loop. This is real, executed code — execution logs confirm it routes correctly.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genuine screenshots of the running application. Dashboard shows live KPIs. Agents page shows the three prototype personas. Executions page shows real status badges and latency.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test results come from verified execution_logs.md. Phase 3 injection test confirmed persona maintenance. Known limitations are honestly disclosed.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Summarise what has actually been achieved. All five areas backed by working code and verified logs, not just design intent.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eight enhancements are clearly marked as proposed. Embedding provider replacement and async HTTP fix are highest-priority for a production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for Q&amp;A. Be ready to demo the Playground page, show the execution trace panel, or walk through the LangGraph graph.build()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2" cy="6858000"/>
          </a:xfrm>
          <a:prstGeom prst="rect">
            <a:avLst/>
          </a:prstGeom>
          <a:solidFill>
            <a:srgbClr val="008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0406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20040"/>
            <a:ext cx="3840480" cy="384048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38328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D4FF"/>
                </a:solidFill>
                <a:latin typeface="Calibri"/>
              </a:rPr>
              <a:t>● GRID07 Engine  ·  MCA Academic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82296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Calibri"/>
              </a:rPr>
              <a:t>GRID07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00D4FF"/>
                </a:solidFill>
                <a:latin typeface="Calibri"/>
              </a:rPr>
              <a:t>Cognitive Routing Infrastructure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B8CC"/>
                </a:solidFill>
                <a:latin typeface="Calibri"/>
              </a:rPr>
              <a:t>A persona-based semantic routing &amp; RAG platform that directs natural-language
inputs to specialised AI agents, retrieves live context, and synthesises
secure, persona-locked responses via a LangGraph execution pipeline.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639312"/>
            <a:ext cx="5029200" cy="36576"/>
          </a:xfrm>
          <a:prstGeom prst="rect">
            <a:avLst/>
          </a:prstGeom>
          <a:solidFill>
            <a:srgbClr val="3A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749039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8CC"/>
                </a:solidFill>
                <a:latin typeface="Calibri"/>
              </a:rPr>
              <a:t>Presented by: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0233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Ronack Kumar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46227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8CC"/>
                </a:solidFill>
                <a:latin typeface="Calibri"/>
              </a:rPr>
              <a:t>MCA  —  SRM Institute of Science and Technology, Ramapuram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77316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8CC"/>
                </a:solidFill>
                <a:latin typeface="Calibri"/>
              </a:rPr>
              <a:t>Department of Computing Technologies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04748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055"/>
                </a:solidFill>
                <a:latin typeface="Calibri"/>
              </a:rPr>
              <a:t>Guide: [Faculty Advisor Name]   ·   Academic Year: 2025–26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03920" y="1005840"/>
            <a:ext cx="3291840" cy="438912"/>
          </a:xfrm>
          <a:prstGeom prst="roundRect">
            <a:avLst/>
          </a:prstGeom>
          <a:solidFill>
            <a:srgbClr val="00D4FF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1060704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463040"/>
            <a:ext cx="274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A4055"/>
                </a:solidFill>
                <a:latin typeface="Calibri"/>
              </a:rPr>
              <a:t>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03920" y="1572768"/>
            <a:ext cx="3291840" cy="438912"/>
          </a:xfrm>
          <a:prstGeom prst="roundRect">
            <a:avLst/>
          </a:prstGeom>
          <a:solidFill>
            <a:srgbClr val="00D4FF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0" y="1627632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ROUTER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12680" y="2029968"/>
            <a:ext cx="274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A4055"/>
                </a:solidFill>
                <a:latin typeface="Calibri"/>
              </a:rPr>
              <a:t>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03920" y="2139696"/>
            <a:ext cx="3291840" cy="438912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3A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0" y="2194560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B0B8CC"/>
                </a:solidFill>
                <a:latin typeface="Calibri"/>
              </a:rPr>
              <a:t>PERSONA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12680" y="2596896"/>
            <a:ext cx="274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A4055"/>
                </a:solidFill>
                <a:latin typeface="Calibri"/>
              </a:rPr>
              <a:t>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03920" y="2706624"/>
            <a:ext cx="3291840" cy="438912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3A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0" y="2761488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B0B8CC"/>
                </a:solidFill>
                <a:latin typeface="Calibri"/>
              </a:rPr>
              <a:t>CONTEXT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2680" y="3163824"/>
            <a:ext cx="274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A4055"/>
                </a:solidFill>
                <a:latin typeface="Calibri"/>
              </a:rPr>
              <a:t>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03920" y="3273552"/>
            <a:ext cx="3291840" cy="438912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3A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0" y="3328416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B0B8CC"/>
                </a:solidFill>
                <a:latin typeface="Calibri"/>
              </a:rPr>
              <a:t>SEARCH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12680" y="3730752"/>
            <a:ext cx="274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A4055"/>
                </a:solidFill>
                <a:latin typeface="Calibri"/>
              </a:rPr>
              <a:t>↓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03920" y="3840480"/>
            <a:ext cx="3291840" cy="438912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3A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0" y="3895344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B0B8CC"/>
                </a:solidFill>
                <a:latin typeface="Calibri"/>
              </a:rPr>
              <a:t>REASONING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4297679"/>
            <a:ext cx="274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A4055"/>
                </a:solidFill>
                <a:latin typeface="Calibri"/>
              </a:rPr>
              <a:t>↓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03920" y="4407408"/>
            <a:ext cx="3291840" cy="438912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3A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95360" y="4462272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B0B8CC"/>
                </a:solidFill>
                <a:latin typeface="Calibri"/>
              </a:rPr>
              <a:t>OUTPUT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49224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Abstract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D4FF"/>
                </a:solidFill>
                <a:latin typeface="Calibri"/>
              </a:rPr>
              <a:t>Problem · Motivation · Solution · Technologies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7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19672"/>
            <a:ext cx="12191695" cy="22860"/>
          </a:xfrm>
          <a:prstGeom prst="rect">
            <a:avLst/>
          </a:prstGeom>
          <a:solidFill>
            <a:srgbClr val="3A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" y="655624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FF"/>
                </a:solidFill>
                <a:latin typeface="Calibri"/>
              </a:rPr>
              <a:t>GRID07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6556248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B8CC"/>
                </a:solidFill>
                <a:latin typeface="Calibri"/>
              </a:rPr>
              <a:t>MCA Project  |  SRM Institute of Science and Technology, Ramapuram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0" y="655624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B8CC"/>
                </a:solidFill>
                <a:latin typeface="Calibri"/>
              </a:rPr>
              <a:t>2 / 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1143000"/>
            <a:ext cx="5486400" cy="2286000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18872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  <a:latin typeface="Calibri"/>
              </a:rPr>
              <a:t>❗ Problem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554480"/>
            <a:ext cx="5120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50" b="0">
                <a:solidFill>
                  <a:srgbClr val="B0B8CC"/>
                </a:solidFill>
                <a:latin typeface="Calibri"/>
              </a:rPr>
              <a:t>•  Multi-persona AI systems have no standard routing layer — developers hand-code if/else logic.</a:t>
            </a:r>
          </a:p>
          <a:p>
            <a:pPr>
              <a:spcBef>
                <a:spcPts val="600"/>
              </a:spcBef>
            </a:pPr>
            <a:r>
              <a:rPr sz="1150" b="0">
                <a:solidFill>
                  <a:srgbClr val="B0B8CC"/>
                </a:solidFill>
                <a:latin typeface="Calibri"/>
              </a:rPr>
              <a:t>•  No unified platform integrates semantic routing, RAG, and prompt-injection defence together.</a:t>
            </a:r>
          </a:p>
          <a:p>
            <a:pPr>
              <a:spcBef>
                <a:spcPts val="600"/>
              </a:spcBef>
            </a:pPr>
            <a:r>
              <a:rPr sz="1150" b="0">
                <a:solidFill>
                  <a:srgbClr val="B0B8CC"/>
                </a:solidFill>
                <a:latin typeface="Calibri"/>
              </a:rPr>
              <a:t>•  Deploying specialised LLM agents requires bespoke boilerplate for every domain.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1143000"/>
            <a:ext cx="5806440" cy="2286000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118872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3AED"/>
                </a:solidFill>
                <a:latin typeface="Calibri"/>
              </a:rPr>
              <a:t>✅ Solution — GRID07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554480"/>
            <a:ext cx="5486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150" b="0">
                <a:solidFill>
                  <a:srgbClr val="B0B8CC"/>
                </a:solidFill>
                <a:latin typeface="Calibri"/>
              </a:rPr>
              <a:t>•  Three-phase system: Persona Router → Content Engine → Combat Engine.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B0B8CC"/>
                </a:solidFill>
                <a:latin typeface="Calibri"/>
              </a:rPr>
              <a:t>•  Cosine-similarity embedding routing selects agents from a workspace.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B0B8CC"/>
                </a:solidFill>
                <a:latin typeface="Calibri"/>
              </a:rPr>
              <a:t>•  LangGraph state machine: decide_search → web_search → generate.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B0B8CC"/>
                </a:solidFill>
                <a:latin typeface="Calibri"/>
              </a:rPr>
              <a:t>•  Dual-layer prompt-injection defence (regex pre-filter + system persona lock).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B0B8CC"/>
                </a:solidFill>
                <a:latin typeface="Calibri"/>
              </a:rPr>
              <a:t>•  Full-stack: Next.js 16 UI + FastAPI backend + SQLite/PostgreSQL DB.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35661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  <a:latin typeface="Calibri"/>
              </a:rPr>
              <a:t>Core Technologies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3950208"/>
            <a:ext cx="2788920" cy="457200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3A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402336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Python 3.13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64408" y="3950208"/>
            <a:ext cx="2788920" cy="457200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3A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55848" y="402336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FastAPI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3950208"/>
            <a:ext cx="2788920" cy="457200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3A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402336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LangGraph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53144" y="3950208"/>
            <a:ext cx="2788920" cy="457200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3A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44584" y="402336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LangChain-Groq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0040" y="4544568"/>
            <a:ext cx="2788920" cy="457200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3A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79" y="461772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Next.js 16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64408" y="4544568"/>
            <a:ext cx="2788920" cy="457200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3A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55848" y="461772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React 19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08776" y="4544568"/>
            <a:ext cx="2788920" cy="457200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3A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0216" y="461772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SQLite / PostgreSQL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53144" y="4544568"/>
            <a:ext cx="2788920" cy="457200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3A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44584" y="461772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Groq llama-3.1-8b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0040" y="5138928"/>
            <a:ext cx="2788920" cy="457200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3A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79" y="521208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NumPy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" y="5166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  <a:latin typeface="Calibri"/>
              </a:rPr>
              <a:t>Objectives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" y="5532120"/>
            <a:ext cx="11612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 b="0">
                <a:solidFill>
                  <a:srgbClr val="B0B8CC"/>
                </a:solidFill>
                <a:latin typeface="Calibri"/>
              </a:rPr>
              <a:t>①  Design a persona-aware semantic routing engine using cosine similarity.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B0B8CC"/>
                </a:solidFill>
                <a:latin typeface="Calibri"/>
              </a:rPr>
              <a:t>②  Build an autonomous content-generation pipeline with web-search augmentation (LangGraph).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B0B8CC"/>
                </a:solidFill>
                <a:latin typeface="Calibri"/>
              </a:rPr>
              <a:t>③  Implement robust prompt-injection defence at regex pre-filter and system-prompt levels.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B0B8CC"/>
                </a:solidFill>
                <a:latin typeface="Calibri"/>
              </a:rPr>
              <a:t>④  Deliver a production-grade full-stack SaaS UI for workspace, agent, and execution management.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49224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Hardware &amp; Software Requirements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7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9672"/>
            <a:ext cx="12191695" cy="22860"/>
          </a:xfrm>
          <a:prstGeom prst="rect">
            <a:avLst/>
          </a:prstGeom>
          <a:solidFill>
            <a:srgbClr val="3A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655624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FF"/>
                </a:solidFill>
                <a:latin typeface="Calibri"/>
              </a:rPr>
              <a:t>GRID07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6556248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B8CC"/>
                </a:solidFill>
                <a:latin typeface="Calibri"/>
              </a:rPr>
              <a:t>MCA Project  |  SRM Institute of Science and Technology, Ramapuram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0" y="655624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B8CC"/>
                </a:solidFill>
                <a:latin typeface="Calibri"/>
              </a:rPr>
              <a:t>3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188720"/>
            <a:ext cx="5486400" cy="3200400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  <a:latin typeface="Calibri"/>
              </a:rPr>
              <a:t>🖥  Hardware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719072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D4FF"/>
                </a:solidFill>
                <a:latin typeface="Calibri"/>
              </a:rPr>
              <a:t>Processor: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76272" y="1719072"/>
            <a:ext cx="3429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8CC"/>
                </a:solidFill>
                <a:latin typeface="Calibri"/>
              </a:rPr>
              <a:t>Intel Core i5 / Ryzen 5 or better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221991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D4FF"/>
                </a:solidFill>
                <a:latin typeface="Calibri"/>
              </a:rPr>
              <a:t>RAM: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76272" y="2221991"/>
            <a:ext cx="3429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8CC"/>
                </a:solidFill>
                <a:latin typeface="Calibri"/>
              </a:rPr>
              <a:t>8 GB min  ·  16 GB recommended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724912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D4FF"/>
                </a:solidFill>
                <a:latin typeface="Calibri"/>
              </a:rPr>
              <a:t>Storage: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76272" y="2724912"/>
            <a:ext cx="3429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8CC"/>
                </a:solidFill>
                <a:latin typeface="Calibri"/>
              </a:rPr>
              <a:t>10 GB free (SSD preferred)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227832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D4FF"/>
                </a:solidFill>
                <a:latin typeface="Calibri"/>
              </a:rPr>
              <a:t>Network: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76272" y="3227832"/>
            <a:ext cx="3429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8CC"/>
                </a:solidFill>
                <a:latin typeface="Calibri"/>
              </a:rPr>
              <a:t>Broadband — Groq API calls required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730752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D4FF"/>
                </a:solidFill>
                <a:latin typeface="Calibri"/>
              </a:rPr>
              <a:t>Display: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76272" y="3730752"/>
            <a:ext cx="3429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8CC"/>
                </a:solidFill>
                <a:latin typeface="Calibri"/>
              </a:rPr>
              <a:t>1280×720 min  ·  1920×1080 recommended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60" y="1188720"/>
            <a:ext cx="5806440" cy="4937760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126187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C3AED"/>
                </a:solidFill>
                <a:latin typeface="Calibri"/>
              </a:rPr>
              <a:t>💾  Software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719072"/>
            <a:ext cx="18745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Calibri"/>
              </a:rPr>
              <a:t>OS: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1719072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8CC"/>
                </a:solidFill>
                <a:latin typeface="Calibri"/>
              </a:rPr>
              <a:t>Windows 10/11 · macOS 12+ · Ubuntu 22.04+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2084831"/>
            <a:ext cx="18745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Calibri"/>
              </a:rPr>
              <a:t>Python: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2084831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8CC"/>
                </a:solidFill>
                <a:latin typeface="Calibri"/>
              </a:rPr>
              <a:t>3.11 or 3.13 (tested on 3.13)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2450591"/>
            <a:ext cx="18745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Calibri"/>
              </a:rPr>
              <a:t>Node.js: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79" y="2450591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8CC"/>
                </a:solidFill>
                <a:latin typeface="Calibri"/>
              </a:rPr>
              <a:t>18 LTS or 20 LTS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2816352"/>
            <a:ext cx="18745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Calibri"/>
              </a:rPr>
              <a:t>Database: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3879" y="2816352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8CC"/>
                </a:solidFill>
                <a:latin typeface="Calibri"/>
              </a:rPr>
              <a:t>SQLite (dev)  ·  PostgreSQL 15 (prod)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3182112"/>
            <a:ext cx="18745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Calibri"/>
              </a:rPr>
              <a:t>Backend: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79" y="3182112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8CC"/>
                </a:solidFill>
                <a:latin typeface="Calibri"/>
              </a:rPr>
              <a:t>FastAPI ≥ 0.100  +  Uvicorn[standard]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3547872"/>
            <a:ext cx="18745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Calibri"/>
              </a:rPr>
              <a:t>LLM SDK: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83879" y="3547872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8CC"/>
                </a:solidFill>
                <a:latin typeface="Calibri"/>
              </a:rPr>
              <a:t>LangChain ≥ 0.2  +  LangGraph ≥ 0.1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63640" y="3913632"/>
            <a:ext cx="18745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Calibri"/>
              </a:rPr>
              <a:t>LLM Provider: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83879" y="3913632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8CC"/>
                </a:solidFill>
                <a:latin typeface="Calibri"/>
              </a:rPr>
              <a:t>Groq API (llama-3.1-8b-instant) — free tier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4279392"/>
            <a:ext cx="18745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Calibri"/>
              </a:rPr>
              <a:t>Frontend: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83879" y="4279392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8CC"/>
                </a:solidFill>
                <a:latin typeface="Calibri"/>
              </a:rPr>
              <a:t>Next.js 16  +  React 19  +  TypeScript 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4645152"/>
            <a:ext cx="18745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Calibri"/>
              </a:rPr>
              <a:t>State Mgmt: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83879" y="4645152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8CC"/>
                </a:solidFill>
                <a:latin typeface="Calibri"/>
              </a:rPr>
              <a:t>Zustand 5  +  React Hook Form  +  Zod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5010912"/>
            <a:ext cx="18745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Calibri"/>
              </a:rPr>
              <a:t>ORM: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83879" y="5010912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8CC"/>
                </a:solidFill>
                <a:latin typeface="Calibri"/>
              </a:rPr>
              <a:t>SQLAlchemy 2.0 async  +  asyncpg  +  aiosqlite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63640" y="5376672"/>
            <a:ext cx="18745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Calibri"/>
              </a:rPr>
              <a:t>Auth: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83879" y="5376672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8CC"/>
                </a:solidFill>
                <a:latin typeface="Calibri"/>
              </a:rPr>
              <a:t>PyJWT ≥ 2.8  +  passlib[bcrypt]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63640" y="5742432"/>
            <a:ext cx="18745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Calibri"/>
              </a:rPr>
              <a:t>Dev Tools: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83879" y="5742432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8CC"/>
                </a:solidFill>
                <a:latin typeface="Calibri"/>
              </a:rPr>
              <a:t>VS Code · Git · npm · pip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0040" y="452628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3A4055"/>
                </a:solidFill>
                <a:latin typeface="Calibri"/>
              </a:rPr>
              <a:t>* Hardware figures are minimum recommended estimates derived from project complexity.
  Only GROQ_API_KEY is required as an external secret (free at console.groq.com).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49224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Existing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D4FF"/>
                </a:solidFill>
                <a:latin typeface="Calibri"/>
              </a:rPr>
              <a:t>Conventional approaches and their limitations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7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19672"/>
            <a:ext cx="12191695" cy="22860"/>
          </a:xfrm>
          <a:prstGeom prst="rect">
            <a:avLst/>
          </a:prstGeom>
          <a:solidFill>
            <a:srgbClr val="3A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" y="655624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FF"/>
                </a:solidFill>
                <a:latin typeface="Calibri"/>
              </a:rPr>
              <a:t>GRID07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6556248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B8CC"/>
                </a:solidFill>
                <a:latin typeface="Calibri"/>
              </a:rPr>
              <a:t>MCA Project  |  SRM Institute of Science and Technology, Ramapuram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0" y="655624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B8CC"/>
                </a:solidFill>
                <a:latin typeface="Calibri"/>
              </a:rPr>
              <a:t>4 /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170432"/>
            <a:ext cx="11612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8CC"/>
                </a:solidFill>
                <a:latin typeface="Calibri"/>
              </a:rPr>
              <a:t>Before GRID07, building multi-persona AI systems required fragmented, hand-crafted solutions: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664208"/>
            <a:ext cx="2606040" cy="40233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" y="1709928"/>
            <a:ext cx="24688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Approach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63240" y="1664208"/>
            <a:ext cx="4983480" cy="402336"/>
          </a:xfrm>
          <a:prstGeom prst="rect">
            <a:avLst/>
          </a:prstGeom>
          <a:solidFill>
            <a:srgbClr val="151C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54680" y="170992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Description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3879" y="1664208"/>
            <a:ext cx="4069080" cy="402336"/>
          </a:xfrm>
          <a:prstGeom prst="rect">
            <a:avLst/>
          </a:prstGeom>
          <a:solidFill>
            <a:srgbClr val="151C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19" y="1709928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Key Limitation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157984"/>
            <a:ext cx="2606040" cy="713232"/>
          </a:xfrm>
          <a:prstGeom prst="rect">
            <a:avLst/>
          </a:prstGeom>
          <a:solidFill>
            <a:srgbClr val="1A1F35"/>
          </a:solidFill>
          <a:ln w="6350">
            <a:solidFill>
              <a:srgbClr val="3A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2194560"/>
            <a:ext cx="2450591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B800"/>
                </a:solidFill>
                <a:latin typeface="Calibri"/>
              </a:rPr>
              <a:t>Manual Prompt Routing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63240" y="2157984"/>
            <a:ext cx="4983480" cy="713232"/>
          </a:xfrm>
          <a:prstGeom prst="rect">
            <a:avLst/>
          </a:prstGeom>
          <a:solidFill>
            <a:srgbClr val="1A1F35"/>
          </a:solidFill>
          <a:ln w="6350">
            <a:solidFill>
              <a:srgbClr val="3A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54680" y="2194560"/>
            <a:ext cx="482803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0B8CC"/>
                </a:solidFill>
                <a:latin typeface="Calibri"/>
              </a:rPr>
              <a:t>Developer hand-codes if/else or keyword rules to decide which LLM prompt to use.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83879" y="2157984"/>
            <a:ext cx="4069080" cy="713232"/>
          </a:xfrm>
          <a:prstGeom prst="rect">
            <a:avLst/>
          </a:prstGeom>
          <a:solidFill>
            <a:srgbClr val="1A1F35"/>
          </a:solidFill>
          <a:ln w="6350">
            <a:solidFill>
              <a:srgbClr val="3A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19" y="2194560"/>
            <a:ext cx="391363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4C4C"/>
                </a:solidFill>
                <a:latin typeface="Calibri"/>
              </a:rPr>
              <a:t>No semantic understanding — breaks with novel or paraphrased inputs. Does not scale.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2926079"/>
            <a:ext cx="2606040" cy="713232"/>
          </a:xfrm>
          <a:prstGeom prst="rect">
            <a:avLst/>
          </a:prstGeom>
          <a:solidFill>
            <a:srgbClr val="12172A"/>
          </a:solidFill>
          <a:ln w="6350">
            <a:solidFill>
              <a:srgbClr val="3A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79" y="2962656"/>
            <a:ext cx="2450591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B800"/>
                </a:solidFill>
                <a:latin typeface="Calibri"/>
              </a:rPr>
              <a:t>Monolithic Chatbot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63240" y="2926079"/>
            <a:ext cx="4983480" cy="713232"/>
          </a:xfrm>
          <a:prstGeom prst="rect">
            <a:avLst/>
          </a:prstGeom>
          <a:solidFill>
            <a:srgbClr val="12172A"/>
          </a:solidFill>
          <a:ln w="6350">
            <a:solidFill>
              <a:srgbClr val="3A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54680" y="2962656"/>
            <a:ext cx="482803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0B8CC"/>
                </a:solidFill>
                <a:latin typeface="Calibri"/>
              </a:rPr>
              <a:t>Single system prompt encodes all persona rules in one long instruction block.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83879" y="2926079"/>
            <a:ext cx="4069080" cy="713232"/>
          </a:xfrm>
          <a:prstGeom prst="rect">
            <a:avLst/>
          </a:prstGeom>
          <a:solidFill>
            <a:srgbClr val="12172A"/>
          </a:solidFill>
          <a:ln w="6350">
            <a:solidFill>
              <a:srgbClr val="3A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5319" y="2962656"/>
            <a:ext cx="391363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4C4C"/>
                </a:solidFill>
                <a:latin typeface="Calibri"/>
              </a:rPr>
              <a:t>Prompt bloat, conflicting instructions, no persona isolation, hard to extend.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694176"/>
            <a:ext cx="2606040" cy="713232"/>
          </a:xfrm>
          <a:prstGeom prst="rect">
            <a:avLst/>
          </a:prstGeom>
          <a:solidFill>
            <a:srgbClr val="1A1F35"/>
          </a:solidFill>
          <a:ln w="6350">
            <a:solidFill>
              <a:srgbClr val="3A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79" y="3730752"/>
            <a:ext cx="2450591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B800"/>
                </a:solidFill>
                <a:latin typeface="Calibri"/>
              </a:rPr>
              <a:t>RAG Without Routing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63240" y="3694176"/>
            <a:ext cx="4983480" cy="713232"/>
          </a:xfrm>
          <a:prstGeom prst="rect">
            <a:avLst/>
          </a:prstGeom>
          <a:solidFill>
            <a:srgbClr val="1A1F35"/>
          </a:solidFill>
          <a:ln w="6350">
            <a:solidFill>
              <a:srgbClr val="3A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54680" y="3730752"/>
            <a:ext cx="482803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0B8CC"/>
                </a:solidFill>
                <a:latin typeface="Calibri"/>
              </a:rPr>
              <a:t>Retrieval injects documents into every query regardless of persona or relevance.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83879" y="3694176"/>
            <a:ext cx="4069080" cy="713232"/>
          </a:xfrm>
          <a:prstGeom prst="rect">
            <a:avLst/>
          </a:prstGeom>
          <a:solidFill>
            <a:srgbClr val="1A1F35"/>
          </a:solidFill>
          <a:ln w="6350">
            <a:solidFill>
              <a:srgbClr val="3A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75319" y="3730752"/>
            <a:ext cx="391363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4C4C"/>
                </a:solidFill>
                <a:latin typeface="Calibri"/>
              </a:rPr>
              <a:t>Context window noise; irrelevant content degrades quality for specialised agents.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4462272"/>
            <a:ext cx="2606040" cy="713232"/>
          </a:xfrm>
          <a:prstGeom prst="rect">
            <a:avLst/>
          </a:prstGeom>
          <a:solidFill>
            <a:srgbClr val="12172A"/>
          </a:solidFill>
          <a:ln w="6350">
            <a:solidFill>
              <a:srgbClr val="3A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79" y="4498848"/>
            <a:ext cx="2450591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B800"/>
                </a:solidFill>
                <a:latin typeface="Calibri"/>
              </a:rPr>
              <a:t>Static Keyword Filter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063240" y="4462272"/>
            <a:ext cx="4983480" cy="713232"/>
          </a:xfrm>
          <a:prstGeom prst="rect">
            <a:avLst/>
          </a:prstGeom>
          <a:solidFill>
            <a:srgbClr val="12172A"/>
          </a:solidFill>
          <a:ln w="6350">
            <a:solidFill>
              <a:srgbClr val="3A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154680" y="4498848"/>
            <a:ext cx="482803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0B8CC"/>
                </a:solidFill>
                <a:latin typeface="Calibri"/>
              </a:rPr>
              <a:t>Security via keyword blocklists to prevent prompt injection attempts.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83879" y="4462272"/>
            <a:ext cx="4069080" cy="713232"/>
          </a:xfrm>
          <a:prstGeom prst="rect">
            <a:avLst/>
          </a:prstGeom>
          <a:solidFill>
            <a:srgbClr val="12172A"/>
          </a:solidFill>
          <a:ln w="6350">
            <a:solidFill>
              <a:srgbClr val="3A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75319" y="4498848"/>
            <a:ext cx="391363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4C4C"/>
                </a:solidFill>
                <a:latin typeface="Calibri"/>
              </a:rPr>
              <a:t>Trivially bypassed via paraphrasing; brittle maintenance; no system-prompt layer.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5230368"/>
            <a:ext cx="2606040" cy="713232"/>
          </a:xfrm>
          <a:prstGeom prst="rect">
            <a:avLst/>
          </a:prstGeom>
          <a:solidFill>
            <a:srgbClr val="1A1F35"/>
          </a:solidFill>
          <a:ln w="6350">
            <a:solidFill>
              <a:srgbClr val="3A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79" y="5266944"/>
            <a:ext cx="2450591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B800"/>
                </a:solidFill>
                <a:latin typeface="Calibri"/>
              </a:rPr>
              <a:t>No Execution Tracing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063240" y="5230368"/>
            <a:ext cx="4983480" cy="713232"/>
          </a:xfrm>
          <a:prstGeom prst="rect">
            <a:avLst/>
          </a:prstGeom>
          <a:solidFill>
            <a:srgbClr val="1A1F35"/>
          </a:solidFill>
          <a:ln w="6350">
            <a:solidFill>
              <a:srgbClr val="3A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154680" y="5266944"/>
            <a:ext cx="482803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0B8CC"/>
                </a:solidFill>
                <a:latin typeface="Calibri"/>
              </a:rPr>
              <a:t>LLM calls fire-and-forget; no structured logging of routing or retrieval steps.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183879" y="5230368"/>
            <a:ext cx="4069080" cy="713232"/>
          </a:xfrm>
          <a:prstGeom prst="rect">
            <a:avLst/>
          </a:prstGeom>
          <a:solidFill>
            <a:srgbClr val="1A1F35"/>
          </a:solidFill>
          <a:ln w="6350">
            <a:solidFill>
              <a:srgbClr val="3A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75319" y="5266944"/>
            <a:ext cx="391363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4C4C"/>
                </a:solidFill>
                <a:latin typeface="Calibri"/>
              </a:rPr>
              <a:t>Cannot debug, audit, or replay failed executions in production.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49224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Proposed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D4FF"/>
                </a:solidFill>
                <a:latin typeface="Calibri"/>
              </a:rPr>
              <a:t>GRID07 — Cognitive Routing Infrastructure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7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19672"/>
            <a:ext cx="12191695" cy="22860"/>
          </a:xfrm>
          <a:prstGeom prst="rect">
            <a:avLst/>
          </a:prstGeom>
          <a:solidFill>
            <a:srgbClr val="3A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" y="655624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FF"/>
                </a:solidFill>
                <a:latin typeface="Calibri"/>
              </a:rPr>
              <a:t>GRID07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6556248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B8CC"/>
                </a:solidFill>
                <a:latin typeface="Calibri"/>
              </a:rPr>
              <a:t>MCA Project  |  SRM Institute of Science and Technology, Ramapuram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0" y="655624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B8CC"/>
                </a:solidFill>
                <a:latin typeface="Calibri"/>
              </a:rPr>
              <a:t>5 /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170432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8CC"/>
                </a:solidFill>
                <a:latin typeface="Calibri"/>
              </a:rPr>
              <a:t>GRID07 replaces all five limitations with a unified three-phase pipeline: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1627632"/>
            <a:ext cx="3840480" cy="4663440"/>
          </a:xfrm>
          <a:prstGeom prst="roundRect">
            <a:avLst/>
          </a:prstGeom>
          <a:solidFill>
            <a:srgbClr val="1A1F35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691640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D4FF"/>
                </a:solidFill>
                <a:latin typeface="Calibri"/>
              </a:rPr>
              <a:t>Phase 1 — Persona Router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148840"/>
            <a:ext cx="3566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 b="0">
                <a:solidFill>
                  <a:srgbClr val="B0B8CC"/>
                </a:solidFill>
                <a:latin typeface="Calibri"/>
              </a:rPr>
              <a:t>▸  Each agent's description embedded into a 64-dim vector via EmbeddingService.</a:t>
            </a:r>
          </a:p>
          <a:p>
            <a:pPr>
              <a:spcBef>
                <a:spcPts val="600"/>
              </a:spcBef>
            </a:pPr>
            <a:r>
              <a:rPr sz="1100" b="0">
                <a:solidFill>
                  <a:srgbClr val="B0B8CC"/>
                </a:solidFill>
                <a:latin typeface="Calibri"/>
              </a:rPr>
              <a:t>▸  Incoming user input embedded the same way using Groq chat API.</a:t>
            </a:r>
          </a:p>
          <a:p>
            <a:pPr>
              <a:spcBef>
                <a:spcPts val="600"/>
              </a:spcBef>
            </a:pPr>
            <a:r>
              <a:rPr sz="1100" b="0">
                <a:solidFill>
                  <a:srgbClr val="B0B8CC"/>
                </a:solidFill>
                <a:latin typeface="Calibri"/>
              </a:rPr>
              <a:t>▸  Cosine similarity computed between input and every agent persona.</a:t>
            </a:r>
          </a:p>
          <a:p>
            <a:pPr>
              <a:spcBef>
                <a:spcPts val="600"/>
              </a:spcBef>
            </a:pPr>
            <a:r>
              <a:rPr sz="1100" b="0">
                <a:solidFill>
                  <a:srgbClr val="B0B8CC"/>
                </a:solidFill>
                <a:latin typeface="Calibri"/>
              </a:rPr>
              <a:t>▸  Agents scoring &lt; 0.80 silently skipped — no false positives.</a:t>
            </a:r>
          </a:p>
          <a:p>
            <a:pPr>
              <a:spcBef>
                <a:spcPts val="600"/>
              </a:spcBef>
            </a:pPr>
            <a:r>
              <a:rPr sz="1100" b="0">
                <a:solidFill>
                  <a:srgbClr val="B0B8CC"/>
                </a:solidFill>
                <a:latin typeface="Calibri"/>
              </a:rPr>
              <a:t>▸  Routing decisions stored in execution.routing_decisions (JSON).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06824" y="1627632"/>
            <a:ext cx="3840480" cy="4663440"/>
          </a:xfrm>
          <a:prstGeom prst="roundRect">
            <a:avLst/>
          </a:prstGeom>
          <a:solidFill>
            <a:srgbClr val="1A1F35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43984" y="1691640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7C3AED"/>
                </a:solidFill>
                <a:latin typeface="Calibri"/>
              </a:rPr>
              <a:t>Phase 2 — Content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3984" y="2148840"/>
            <a:ext cx="3566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 b="0">
                <a:solidFill>
                  <a:srgbClr val="B0B8CC"/>
                </a:solidFill>
                <a:latin typeface="Calibri"/>
              </a:rPr>
              <a:t>▸  LangGraph StateGraph: decide_search → web_search → generate.</a:t>
            </a:r>
          </a:p>
          <a:p>
            <a:pPr>
              <a:spcBef>
                <a:spcPts val="600"/>
              </a:spcBef>
            </a:pPr>
            <a:r>
              <a:rPr sz="1100" b="0">
                <a:solidFill>
                  <a:srgbClr val="B0B8CC"/>
                </a:solidFill>
                <a:latin typeface="Calibri"/>
              </a:rPr>
              <a:t>▸  LLM selects a topic &amp; search query based on the agent's persona.</a:t>
            </a:r>
          </a:p>
          <a:p>
            <a:pPr>
              <a:spcBef>
                <a:spcPts val="600"/>
              </a:spcBef>
            </a:pPr>
            <a:r>
              <a:rPr sz="1100" b="0">
                <a:solidFill>
                  <a:srgbClr val="B0B8CC"/>
                </a:solidFill>
                <a:latin typeface="Calibri"/>
              </a:rPr>
              <a:t>▸  DDGSearchProvider fetches live web results (falls back to MockProvider).</a:t>
            </a:r>
          </a:p>
          <a:p>
            <a:pPr>
              <a:spcBef>
                <a:spcPts val="600"/>
              </a:spcBef>
            </a:pPr>
            <a:r>
              <a:rPr sz="1100" b="0">
                <a:solidFill>
                  <a:srgbClr val="B0B8CC"/>
                </a:solidFill>
                <a:latin typeface="Calibri"/>
              </a:rPr>
              <a:t>▸  Agent drafts a structured, persona-grounded response (≤280 chars).</a:t>
            </a:r>
          </a:p>
          <a:p>
            <a:pPr>
              <a:spcBef>
                <a:spcPts val="600"/>
              </a:spcBef>
            </a:pPr>
            <a:r>
              <a:rPr sz="1100" b="0">
                <a:solidFill>
                  <a:srgbClr val="B0B8CC"/>
                </a:solidFill>
                <a:latin typeface="Calibri"/>
              </a:rPr>
              <a:t>▸  Full JSON output with bot_id, topic, and post_content.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93608" y="1627632"/>
            <a:ext cx="3840480" cy="4663440"/>
          </a:xfrm>
          <a:prstGeom prst="roundRect">
            <a:avLst/>
          </a:prstGeom>
          <a:solidFill>
            <a:srgbClr val="1A1F35"/>
          </a:solidFill>
          <a:ln w="19050">
            <a:solidFill>
              <a:srgbClr val="00E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0768" y="1691640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E096"/>
                </a:solidFill>
                <a:latin typeface="Calibri"/>
              </a:rPr>
              <a:t>Phase 3 — Combat Engine + RAG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8" y="2148840"/>
            <a:ext cx="3566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 b="0">
                <a:solidFill>
                  <a:srgbClr val="B0B8CC"/>
                </a:solidFill>
                <a:latin typeface="Calibri"/>
              </a:rPr>
              <a:t>▸  Full conversation thread injected into system prompt (context-window RAG).</a:t>
            </a:r>
          </a:p>
          <a:p>
            <a:pPr>
              <a:spcBef>
                <a:spcPts val="600"/>
              </a:spcBef>
            </a:pPr>
            <a:r>
              <a:rPr sz="1100" b="0">
                <a:solidFill>
                  <a:srgbClr val="B0B8CC"/>
                </a:solidFill>
                <a:latin typeface="Calibri"/>
              </a:rPr>
              <a:t>▸  detect_injection() scans 10 regex patterns before every LLM call.</a:t>
            </a:r>
          </a:p>
          <a:p>
            <a:pPr>
              <a:spcBef>
                <a:spcPts val="600"/>
              </a:spcBef>
            </a:pPr>
            <a:r>
              <a:rPr sz="1100" b="0">
                <a:solidFill>
                  <a:srgbClr val="B0B8CC"/>
                </a:solidFill>
                <a:latin typeface="Calibri"/>
              </a:rPr>
              <a:t>▸  System-prompt ABSOLUTE RULES block — persona is immutable.</a:t>
            </a:r>
          </a:p>
          <a:p>
            <a:pPr>
              <a:spcBef>
                <a:spcPts val="600"/>
              </a:spcBef>
            </a:pPr>
            <a:r>
              <a:rPr sz="1100" b="0">
                <a:solidFill>
                  <a:srgbClr val="B0B8CC"/>
                </a:solidFill>
                <a:latin typeface="Calibri"/>
              </a:rPr>
              <a:t>▸  Model explicitly told to treat override attempts as adversarial noise.</a:t>
            </a:r>
          </a:p>
          <a:p>
            <a:pPr>
              <a:spcBef>
                <a:spcPts val="600"/>
              </a:spcBef>
            </a:pPr>
            <a:r>
              <a:rPr sz="1100" b="0">
                <a:solidFill>
                  <a:srgbClr val="B0B8CC"/>
                </a:solidFill>
                <a:latin typeface="Calibri"/>
              </a:rPr>
              <a:t>▸  Test result: persona maintained ✅ across normal + injection inputs.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6400800"/>
            <a:ext cx="11567160" cy="347472"/>
          </a:xfrm>
          <a:prstGeom prst="rect">
            <a:avLst/>
          </a:prstGeom>
          <a:solidFill>
            <a:srgbClr val="001822"/>
          </a:solidFill>
          <a:ln w="63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437376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0D4FF"/>
                </a:solidFill>
                <a:latin typeface="Calibri"/>
              </a:rPr>
              <a:t>Benefits: Semantic routing accuracy · Persona isolation · Injection-resistant · Full observability per execution (status, latency, routing decisions, retrieved context)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49224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Module Descriptions — Core Modules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7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9672"/>
            <a:ext cx="12191695" cy="22860"/>
          </a:xfrm>
          <a:prstGeom prst="rect">
            <a:avLst/>
          </a:prstGeom>
          <a:solidFill>
            <a:srgbClr val="3A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655624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FF"/>
                </a:solidFill>
                <a:latin typeface="Calibri"/>
              </a:rPr>
              <a:t>GRID07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6556248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B8CC"/>
                </a:solidFill>
                <a:latin typeface="Calibri"/>
              </a:rPr>
              <a:t>MCA Project  |  SRM Institute of Science and Technology, Ramapuram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0" y="655624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B8CC"/>
                </a:solidFill>
                <a:latin typeface="Calibri"/>
              </a:rPr>
              <a:t>6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188720"/>
            <a:ext cx="5760720" cy="1664208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52728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  <a:latin typeface="Calibri"/>
              </a:rPr>
              <a:t>Auth Module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554480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3A4055"/>
                </a:solidFill>
                <a:latin typeface="Calibri"/>
              </a:rPr>
              <a:t>app/api/routes/auth.py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75564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00E096"/>
                </a:solidFill>
                <a:latin typeface="Calibri"/>
              </a:rPr>
              <a:t>In: </a:t>
            </a:r>
            <a:r>
              <a:rPr sz="1000">
                <a:solidFill>
                  <a:srgbClr val="B0B8CC"/>
                </a:solidFill>
                <a:latin typeface="Calibri"/>
              </a:rPr>
              <a:t>email + password (OAuth2PasswordRequestForm)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10312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B0B8CC"/>
                </a:solidFill>
                <a:latin typeface="Calibri"/>
              </a:rPr>
              <a:t>→  </a:t>
            </a:r>
            <a:r>
              <a:rPr sz="1000">
                <a:solidFill>
                  <a:srgbClr val="B0B8CC"/>
                </a:solidFill>
                <a:latin typeface="Calibri"/>
              </a:rPr>
              <a:t>bcrypt verify · JWT token creation (HS256, 7-day expiry) · /register, /login, /me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450591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FFB800"/>
                </a:solidFill>
                <a:latin typeface="Calibri"/>
              </a:rPr>
              <a:t>Out: </a:t>
            </a:r>
            <a:r>
              <a:rPr sz="1000">
                <a:solidFill>
                  <a:srgbClr val="B0B8CC"/>
                </a:solidFill>
                <a:latin typeface="Calibri"/>
              </a:rPr>
              <a:t>Bearer access_token · UserResponse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59" y="1188720"/>
            <a:ext cx="5760720" cy="1664208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252728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  <a:latin typeface="Calibri"/>
              </a:rPr>
              <a:t>Workspace Module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554480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3A4055"/>
                </a:solidFill>
                <a:latin typeface="Calibri"/>
              </a:rPr>
              <a:t>app/api/routes/workspaces.py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175564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00E096"/>
                </a:solidFill>
                <a:latin typeface="Calibri"/>
              </a:rPr>
              <a:t>In: </a:t>
            </a:r>
            <a:r>
              <a:rPr sz="1000">
                <a:solidFill>
                  <a:srgbClr val="B0B8CC"/>
                </a:solidFill>
                <a:latin typeface="Calibri"/>
              </a:rPr>
              <a:t>workspace name + user JWT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10312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B0B8CC"/>
                </a:solidFill>
                <a:latin typeface="Calibri"/>
              </a:rPr>
              <a:t>→  </a:t>
            </a:r>
            <a:r>
              <a:rPr sz="1000">
                <a:solidFill>
                  <a:srgbClr val="B0B8CC"/>
                </a:solidFill>
                <a:latin typeface="Calibri"/>
              </a:rPr>
              <a:t>Creates/lists Workspace rows; manages WorkspaceMember roles: Owner/Admin/Member/Viewer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2450591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FFB800"/>
                </a:solidFill>
                <a:latin typeface="Calibri"/>
              </a:rPr>
              <a:t>Out: </a:t>
            </a:r>
            <a:r>
              <a:rPr sz="1000">
                <a:solidFill>
                  <a:srgbClr val="B0B8CC"/>
                </a:solidFill>
                <a:latin typeface="Calibri"/>
              </a:rPr>
              <a:t>Workspace UUID + member list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" y="3017520"/>
            <a:ext cx="5760720" cy="1664208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081527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  <a:latin typeface="Calibri"/>
              </a:rPr>
              <a:t>Agent Module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383279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3A4055"/>
                </a:solidFill>
                <a:latin typeface="Calibri"/>
              </a:rPr>
              <a:t>app/api/routes/agents.py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58444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00E096"/>
                </a:solidFill>
                <a:latin typeface="Calibri"/>
              </a:rPr>
              <a:t>In: </a:t>
            </a:r>
            <a:r>
              <a:rPr sz="1000">
                <a:solidFill>
                  <a:srgbClr val="B0B8CC"/>
                </a:solidFill>
                <a:latin typeface="Calibri"/>
              </a:rPr>
              <a:t>name, description, personality, tone, expertise, model_name, tools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93192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B0B8CC"/>
                </a:solidFill>
                <a:latin typeface="Calibri"/>
              </a:rPr>
              <a:t>→  </a:t>
            </a:r>
            <a:r>
              <a:rPr sz="1000">
                <a:solidFill>
                  <a:srgbClr val="B0B8CC"/>
                </a:solidFill>
                <a:latin typeface="Calibri"/>
              </a:rPr>
              <a:t>Persists Agent with all persona fields (personality, communication_style, expertise JSON, interests JSON, avoid JSON)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27939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FFB800"/>
                </a:solidFill>
                <a:latin typeface="Calibri"/>
              </a:rPr>
              <a:t>Out: </a:t>
            </a:r>
            <a:r>
              <a:rPr sz="1000">
                <a:solidFill>
                  <a:srgbClr val="B0B8CC"/>
                </a:solidFill>
                <a:latin typeface="Calibri"/>
              </a:rPr>
              <a:t>Agent UUID + full AgentResponse schema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59" y="3017520"/>
            <a:ext cx="5760720" cy="1664208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3081527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  <a:latin typeface="Calibri"/>
              </a:rPr>
              <a:t>Execution Module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383279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3A4055"/>
                </a:solidFill>
                <a:latin typeface="Calibri"/>
              </a:rPr>
              <a:t>app/api/routes/executions.py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358444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00E096"/>
                </a:solidFill>
                <a:latin typeface="Calibri"/>
              </a:rPr>
              <a:t>In: </a:t>
            </a:r>
            <a:r>
              <a:rPr sz="1000">
                <a:solidFill>
                  <a:srgbClr val="B0B8CC"/>
                </a:solidFill>
                <a:latin typeface="Calibri"/>
              </a:rPr>
              <a:t>input_text + optional conversation_id (POST) · execution_id (GET)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393192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B0B8CC"/>
                </a:solidFill>
                <a:latin typeface="Calibri"/>
              </a:rPr>
              <a:t>→  </a:t>
            </a:r>
            <a:r>
              <a:rPr sz="1000">
                <a:solidFill>
                  <a:srgbClr val="B0B8CC"/>
                </a:solidFill>
                <a:latin typeface="Calibri"/>
              </a:rPr>
              <a:t>Creates Execution row → dispatches BackgroundTask → PENDING→ROUTING→RETRIEVING→GENERATING→COMPLETED/FAILED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427939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FFB800"/>
                </a:solidFill>
                <a:latin typeface="Calibri"/>
              </a:rPr>
              <a:t>Out: </a:t>
            </a:r>
            <a:r>
              <a:rPr sz="1000">
                <a:solidFill>
                  <a:srgbClr val="B0B8CC"/>
                </a:solidFill>
                <a:latin typeface="Calibri"/>
              </a:rPr>
              <a:t>Execution UUID, status, output_text, routing_decisions, latency_ms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0040" y="4846320"/>
            <a:ext cx="5760720" cy="1664208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4910328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  <a:latin typeface="Calibri"/>
              </a:rPr>
              <a:t>Conversation Module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212080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3A4055"/>
                </a:solidFill>
                <a:latin typeface="Calibri"/>
              </a:rPr>
              <a:t>app/api/routes/conversations.py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541324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00E096"/>
                </a:solidFill>
                <a:latin typeface="Calibri"/>
              </a:rPr>
              <a:t>In: </a:t>
            </a:r>
            <a:r>
              <a:rPr sz="1000">
                <a:solidFill>
                  <a:srgbClr val="B0B8CC"/>
                </a:solidFill>
                <a:latin typeface="Calibri"/>
              </a:rPr>
              <a:t>workspace_id, optional agent_id, title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76072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B0B8CC"/>
                </a:solidFill>
                <a:latin typeface="Calibri"/>
              </a:rPr>
              <a:t>→  </a:t>
            </a:r>
            <a:r>
              <a:rPr sz="1000">
                <a:solidFill>
                  <a:srgbClr val="B0B8CC"/>
                </a:solidFill>
                <a:latin typeface="Calibri"/>
              </a:rPr>
              <a:t>Creates Conversation + stores ordered Message rows (role: user|agent) for multi-turn history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10819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FFB800"/>
                </a:solidFill>
                <a:latin typeface="Calibri"/>
              </a:rPr>
              <a:t>Out: </a:t>
            </a:r>
            <a:r>
              <a:rPr sz="1000">
                <a:solidFill>
                  <a:srgbClr val="B0B8CC"/>
                </a:solidFill>
                <a:latin typeface="Calibri"/>
              </a:rPr>
              <a:t>Conversation UUID + message history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49224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Module Descriptions — Execution &amp; LLM Integration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7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9672"/>
            <a:ext cx="12191695" cy="22860"/>
          </a:xfrm>
          <a:prstGeom prst="rect">
            <a:avLst/>
          </a:prstGeom>
          <a:solidFill>
            <a:srgbClr val="3A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655624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FF"/>
                </a:solidFill>
                <a:latin typeface="Calibri"/>
              </a:rPr>
              <a:t>GRID07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6556248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B8CC"/>
                </a:solidFill>
                <a:latin typeface="Calibri"/>
              </a:rPr>
              <a:t>MCA Project  |  SRM Institute of Science and Technology, Ramapuram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0" y="655624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B8CC"/>
                </a:solidFill>
                <a:latin typeface="Calibri"/>
              </a:rPr>
              <a:t>7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188720"/>
            <a:ext cx="5760720" cy="1664208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52728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D4FF"/>
                </a:solidFill>
                <a:latin typeface="Calibri"/>
              </a:rPr>
              <a:t>EmbeddingService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554480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3A4055"/>
                </a:solidFill>
                <a:latin typeface="Calibri"/>
              </a:rPr>
              <a:t>services/routing/embeddings.py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737360"/>
            <a:ext cx="5486400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0B8CC"/>
                </a:solidFill>
                <a:latin typeface="Calibri"/>
              </a:rPr>
              <a:t>Prompts Groq LLM to output a 32-float JSON array representing text semantics. Pads/truncates all vectors to 64-dim for uniform cosine comparison. Synchronous HTTP call via requests wrapped in async interface.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1188720"/>
            <a:ext cx="5760720" cy="1664208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252728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7C3AED"/>
                </a:solidFill>
                <a:latin typeface="Calibri"/>
              </a:rPr>
              <a:t>PersonaRouter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554480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3A4055"/>
                </a:solidFill>
                <a:latin typeface="Calibri"/>
              </a:rPr>
              <a:t>services/routing/router.py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1737360"/>
            <a:ext cx="5486400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0B8CC"/>
                </a:solidFill>
                <a:latin typeface="Calibri"/>
              </a:rPr>
              <a:t>Accepts user input + list of Agent ORM objects. Embeds input &amp; each agent description. Computes pairwise cosine similarity. Returns matches sorted by score with selected flag and reason. Threshold default: 0.80.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3017520"/>
            <a:ext cx="5760720" cy="1664208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00E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081527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E096"/>
                </a:solidFill>
                <a:latin typeface="Calibri"/>
              </a:rPr>
              <a:t>AgentExecutionGraph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383279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3A4055"/>
                </a:solidFill>
                <a:latin typeface="Calibri"/>
              </a:rPr>
              <a:t>services/agents/graph.py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566160"/>
            <a:ext cx="5486400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0B8CC"/>
                </a:solidFill>
                <a:latin typeface="Calibri"/>
              </a:rPr>
              <a:t>Compiled LangGraph StateGraph with three async nodes: node_decide_search (topic/query), node_web_search (DDG or mock retrieval), node_generate_response (persona-locked generation). Model: llama-3.1-8b-instant via langchain-groq, max_tokens=512.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59" y="3017520"/>
            <a:ext cx="5760720" cy="1664208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3081527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B800"/>
                </a:solidFill>
                <a:latin typeface="Calibri"/>
              </a:rPr>
              <a:t>RetrievalService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3383279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3A4055"/>
                </a:solidFill>
                <a:latin typeface="Calibri"/>
              </a:rPr>
              <a:t>services/retrieval/search.py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3566160"/>
            <a:ext cx="5486400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0B8CC"/>
                </a:solidFill>
                <a:latin typeface="Calibri"/>
              </a:rPr>
              <a:t>Wraps DDGSearchProvider (duckduckgo-search) with automatic fallback to MockSearchProvider. Mock matches keywords (crypto, ai, tech) to seeded headlines. Returns formatted 'Source N: …' context string for system-prompt injection.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0040" y="4846320"/>
            <a:ext cx="5760720" cy="1664208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FF4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910328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4C4C"/>
                </a:solidFill>
                <a:latin typeface="Calibri"/>
              </a:rPr>
              <a:t>Injection Defence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212080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3A4055"/>
                </a:solidFill>
                <a:latin typeface="Calibri"/>
              </a:rPr>
              <a:t>services/security/injection.py + graph.py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394959"/>
            <a:ext cx="5486400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0B8CC"/>
                </a:solidFill>
                <a:latin typeface="Calibri"/>
              </a:rPr>
              <a:t>Layer 1 — Regex pre-filter: 10 compiled patterns (ignore all previous, you are now, act as, pretend you are, new instructions, disregard, etc.). Layer 2 — ABSOLUTE RULES block in system prompt. Both layers active on every execution.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59" y="4846320"/>
            <a:ext cx="5760720" cy="1664208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4910328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D4FF"/>
                </a:solidFill>
                <a:latin typeface="Calibri"/>
              </a:rPr>
              <a:t>Background Worker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5212080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3A4055"/>
                </a:solidFill>
                <a:latin typeface="Calibri"/>
              </a:rPr>
              <a:t>api/routes/executions.py → run_execution_background()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5394959"/>
            <a:ext cx="5486400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0B8CC"/>
                </a:solidFill>
                <a:latin typeface="Calibri"/>
              </a:rPr>
              <a:t>FastAPI BackgroundTask orchestrates full pipeline: PENDING→ROUTING→RETRIEVING→GENERATING→COMPLETED/FAILED. Persists routing_decisions, retrieved_context, output_text, latency_ms, cost_estimate, completed_at. Saves user+agent messages to Conversation.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" y="641908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FB800"/>
                </a:solidFill>
                <a:latin typeface="Calibri"/>
              </a:rPr>
              <a:t>⚠ Proposed: Replace Groq prompt-embedding with a proper embedding endpoint (text-embedding-3-small / Cohere) for higher routing quality in production.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49224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System Architecture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7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9672"/>
            <a:ext cx="12191695" cy="22860"/>
          </a:xfrm>
          <a:prstGeom prst="rect">
            <a:avLst/>
          </a:prstGeom>
          <a:solidFill>
            <a:srgbClr val="3A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655624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FF"/>
                </a:solidFill>
                <a:latin typeface="Calibri"/>
              </a:rPr>
              <a:t>GRID07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6556248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B8CC"/>
                </a:solidFill>
                <a:latin typeface="Calibri"/>
              </a:rPr>
              <a:t>MCA Project  |  SRM Institute of Science and Technology, Ramapuram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0" y="655624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B8CC"/>
                </a:solidFill>
                <a:latin typeface="Calibri"/>
              </a:rPr>
              <a:t>8 /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" y="109728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3A4055"/>
                </a:solidFill>
                <a:latin typeface="Calibri"/>
              </a:rPr>
              <a:t>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" y="224028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3A4055"/>
                </a:solidFill>
                <a:latin typeface="Calibri"/>
              </a:rPr>
              <a:t>API Gateway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" y="333756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3A4055"/>
                </a:solidFill>
                <a:latin typeface="Calibri"/>
              </a:rPr>
              <a:t>Service Layer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" y="461772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3A4055"/>
                </a:solidFill>
                <a:latin typeface="Calibri"/>
              </a:rPr>
              <a:t>LLM / External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" y="566928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3A4055"/>
                </a:solidFill>
                <a:latin typeface="Calibri"/>
              </a:rPr>
              <a:t>Data Layer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08760" y="1051560"/>
            <a:ext cx="10515600" cy="18288"/>
          </a:xfrm>
          <a:prstGeom prst="rect">
            <a:avLst/>
          </a:prstGeom>
          <a:solidFill>
            <a:srgbClr val="3A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508760" y="2176272"/>
            <a:ext cx="10515600" cy="18288"/>
          </a:xfrm>
          <a:prstGeom prst="rect">
            <a:avLst/>
          </a:prstGeom>
          <a:solidFill>
            <a:srgbClr val="3A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508760" y="3273552"/>
            <a:ext cx="10515600" cy="18288"/>
          </a:xfrm>
          <a:prstGeom prst="rect">
            <a:avLst/>
          </a:prstGeom>
          <a:solidFill>
            <a:srgbClr val="3A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08760" y="4553712"/>
            <a:ext cx="10515600" cy="18288"/>
          </a:xfrm>
          <a:prstGeom prst="rect">
            <a:avLst/>
          </a:prstGeom>
          <a:solidFill>
            <a:srgbClr val="3A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508760" y="5596128"/>
            <a:ext cx="10515600" cy="18288"/>
          </a:xfrm>
          <a:prstGeom prst="rect">
            <a:avLst/>
          </a:prstGeom>
          <a:solidFill>
            <a:srgbClr val="3A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600200" y="1115568"/>
            <a:ext cx="3200400" cy="914400"/>
          </a:xfrm>
          <a:prstGeom prst="roundRect">
            <a:avLst/>
          </a:prstGeom>
          <a:solidFill>
            <a:srgbClr val="0A142A"/>
          </a:solidFill>
          <a:ln w="1524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37360" y="1161288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Next.js 16 Frontend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1417320"/>
            <a:ext cx="29260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B8CC"/>
                </a:solidFill>
                <a:latin typeface="Calibri"/>
              </a:rPr>
              <a:t>Dashboard · Agents · Playground · Executions
React 19 · TypeScript · Zustand · Tailwind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1417320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3A4055"/>
                </a:solidFill>
                <a:latin typeface="Calibri"/>
              </a:rPr>
              <a:t>REST / axios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00600" y="1536192"/>
            <a:ext cx="2560320" cy="1828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78040" y="1463040"/>
            <a:ext cx="274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D4FF"/>
                </a:solidFill>
                <a:latin typeface="Calibri"/>
              </a:rPr>
              <a:t>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06640" y="2240280"/>
            <a:ext cx="3200400" cy="749808"/>
          </a:xfrm>
          <a:prstGeom prst="roundRect">
            <a:avLst/>
          </a:prstGeom>
          <a:solidFill>
            <a:srgbClr val="0A142A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43800" y="22860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Calibri"/>
              </a:rPr>
              <a:t>FastAPI  /api/v1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43800" y="2542032"/>
            <a:ext cx="2926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B8CC"/>
                </a:solidFill>
                <a:latin typeface="Calibri"/>
              </a:rPr>
              <a:t>auth · workspaces · agents · executions · conversations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46320" y="2331720"/>
            <a:ext cx="2286000" cy="548640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37760" y="2359152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B800"/>
                </a:solidFill>
                <a:latin typeface="Calibri"/>
              </a:rPr>
              <a:t>🔒 JWT Middleware
OAuth2PasswordBearer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600200" y="3337560"/>
            <a:ext cx="2286000" cy="1005840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709928" y="3401568"/>
            <a:ext cx="2057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D4FF"/>
                </a:solidFill>
                <a:latin typeface="Calibri"/>
              </a:rPr>
              <a:t>PersonaRouter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09928" y="3721608"/>
            <a:ext cx="2057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B8CC"/>
                </a:solidFill>
                <a:latin typeface="Calibri"/>
              </a:rPr>
              <a:t>EmbeddingService
Cosine similarity
Threshold 0.80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60520" y="3337560"/>
            <a:ext cx="2926080" cy="1005840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70248" y="3401568"/>
            <a:ext cx="2697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7C3AED"/>
                </a:solidFill>
                <a:latin typeface="Calibri"/>
              </a:rPr>
              <a:t>LangGraph Pipeline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70248" y="3721608"/>
            <a:ext cx="2697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B8CC"/>
                </a:solidFill>
                <a:latin typeface="Calibri"/>
              </a:rPr>
              <a:t>decide_search →
web_search →
generate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60920" y="3337560"/>
            <a:ext cx="2743200" cy="1005840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00E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70648" y="3401568"/>
            <a:ext cx="2514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E096"/>
                </a:solidFill>
                <a:latin typeface="Calibri"/>
              </a:rPr>
              <a:t>RetrievalService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70648" y="3721608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B8CC"/>
                </a:solidFill>
                <a:latin typeface="Calibri"/>
              </a:rPr>
              <a:t>DDGSearchProvider
(MockProvider fallback)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287000" y="3337560"/>
            <a:ext cx="1828800" cy="1005840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FF4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96728" y="3401568"/>
            <a:ext cx="1600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4C4C"/>
                </a:solidFill>
                <a:latin typeface="Calibri"/>
              </a:rPr>
              <a:t>Injection
Defence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96728" y="3721608"/>
            <a:ext cx="1600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B8CC"/>
                </a:solidFill>
                <a:latin typeface="Calibri"/>
              </a:rPr>
              <a:t>Regex (10 patterns)
+ Persona Lock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160520" y="4645152"/>
            <a:ext cx="2926080" cy="658368"/>
          </a:xfrm>
          <a:prstGeom prst="roundRect">
            <a:avLst/>
          </a:prstGeom>
          <a:solidFill>
            <a:srgbClr val="0A142A"/>
          </a:solidFill>
          <a:ln w="12700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97680" y="4690872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B800"/>
                </a:solidFill>
                <a:latin typeface="Calibri"/>
              </a:rPr>
              <a:t>Groq API  (llama-3.1-8b-instant)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0" y="4956048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0B8CC"/>
                </a:solidFill>
                <a:latin typeface="Calibri"/>
              </a:rPr>
              <a:t>Embeddings · Generation · Search-decide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360920" y="4645152"/>
            <a:ext cx="2743200" cy="658368"/>
          </a:xfrm>
          <a:prstGeom prst="roundRect">
            <a:avLst/>
          </a:prstGeom>
          <a:solidFill>
            <a:srgbClr val="0A142A"/>
          </a:solidFill>
          <a:ln w="12700">
            <a:solidFill>
              <a:srgbClr val="3A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98079" y="469087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0B8CC"/>
                </a:solidFill>
                <a:latin typeface="Calibri"/>
              </a:rPr>
              <a:t>DuckDuckGo Search API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98079" y="4956048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A4055"/>
                </a:solidFill>
                <a:latin typeface="Calibri"/>
              </a:rPr>
              <a:t>(+ mock fallback for offline / CI)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600200" y="5669280"/>
            <a:ext cx="2926080" cy="640080"/>
          </a:xfrm>
          <a:prstGeom prst="roundRect">
            <a:avLst/>
          </a:prstGeom>
          <a:solidFill>
            <a:srgbClr val="0A142A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737360" y="571500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SQLite / PostgreSQL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737360" y="5971032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0B8CC"/>
                </a:solidFill>
                <a:latin typeface="Calibri"/>
              </a:rPr>
              <a:t>users · workspaces · agents · executions · conversations · messages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49224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System Workflow / Data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7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9672"/>
            <a:ext cx="12191695" cy="22860"/>
          </a:xfrm>
          <a:prstGeom prst="rect">
            <a:avLst/>
          </a:prstGeom>
          <a:solidFill>
            <a:srgbClr val="3A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655624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FF"/>
                </a:solidFill>
                <a:latin typeface="Calibri"/>
              </a:rPr>
              <a:t>GRID07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6556248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B8CC"/>
                </a:solidFill>
                <a:latin typeface="Calibri"/>
              </a:rPr>
              <a:t>MCA Project  |  SRM Institute of Science and Technology, Ramapuram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0" y="655624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B8CC"/>
                </a:solidFill>
                <a:latin typeface="Calibri"/>
              </a:rPr>
              <a:t>9 /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170432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8CC"/>
                </a:solidFill>
                <a:latin typeface="Calibri"/>
              </a:rPr>
              <a:t>End-to-end flow — user input to LLM-generated response: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1600200"/>
            <a:ext cx="5760720" cy="1115568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11479" y="1682496"/>
            <a:ext cx="402336" cy="384048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" y="1691640"/>
            <a:ext cx="4023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70914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682496"/>
            <a:ext cx="50292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D4FF"/>
                </a:solidFill>
                <a:latin typeface="Calibri"/>
              </a:rPr>
              <a:t>1. User 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002536"/>
            <a:ext cx="50292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8CC"/>
                </a:solidFill>
                <a:latin typeface="Calibri"/>
              </a:rPr>
              <a:t>User enters natural-language text in Playground or via POST /api/v1/{ws}/executions.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59" y="1600200"/>
            <a:ext cx="5760720" cy="1115568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799" y="1682496"/>
            <a:ext cx="402336" cy="38404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799" y="1691640"/>
            <a:ext cx="4023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70914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1682496"/>
            <a:ext cx="50292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C3AED"/>
                </a:solidFill>
                <a:latin typeface="Calibri"/>
              </a:rPr>
              <a:t>2. Execution Created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2002536"/>
            <a:ext cx="50292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8CC"/>
                </a:solidFill>
                <a:latin typeface="Calibri"/>
              </a:rPr>
              <a:t>Backend creates Execution row (status=PENDING). FastAPI BackgroundTask dispatched immediately.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2862072"/>
            <a:ext cx="5760720" cy="1115568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11479" y="2944368"/>
            <a:ext cx="402336" cy="384048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79" y="2953512"/>
            <a:ext cx="4023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70914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2944368"/>
            <a:ext cx="50292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D4FF"/>
                </a:solidFill>
                <a:latin typeface="Calibri"/>
              </a:rPr>
              <a:t>3. Persona Routing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264408"/>
            <a:ext cx="50292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8CC"/>
                </a:solidFill>
                <a:latin typeface="Calibri"/>
              </a:rPr>
              <a:t>EmbeddingService embeds input &amp; each agent description (64-dim vectors).
PersonaRouter computes cosine similarity → selects agents ≥ 0.80 threshold.
routing_decisions JSON persisted. If no match → COMPLETED with 'No agent found'.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59" y="2862072"/>
            <a:ext cx="5760720" cy="1115568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00E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00799" y="2944368"/>
            <a:ext cx="402336" cy="384048"/>
          </a:xfrm>
          <a:prstGeom prst="roundRect">
            <a:avLst/>
          </a:prstGeom>
          <a:solidFill>
            <a:srgbClr val="00E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799" y="2953512"/>
            <a:ext cx="4023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70914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2944368"/>
            <a:ext cx="50292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E096"/>
                </a:solidFill>
                <a:latin typeface="Calibri"/>
              </a:rPr>
              <a:t>4. Retrieval (RAG)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03720" y="3264408"/>
            <a:ext cx="50292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8CC"/>
                </a:solidFill>
                <a:latin typeface="Calibri"/>
              </a:rPr>
              <a:t>LangGraph node_decide_search: LLM picks topic &amp; search query from persona+input.
node_web_search: DDGSearchProvider fetches top-5 results (mock fallback).
Context formatted as 'Source N: …' for system-prompt injection.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4123944"/>
            <a:ext cx="5760720" cy="1115568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11479" y="4206240"/>
            <a:ext cx="402336" cy="384048"/>
          </a:xfrm>
          <a:prstGeom prst="round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79" y="4215383"/>
            <a:ext cx="4023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70914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206240"/>
            <a:ext cx="50292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B800"/>
                </a:solidFill>
                <a:latin typeface="Calibri"/>
              </a:rPr>
              <a:t>5. Injection Check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4526280"/>
            <a:ext cx="50292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8CC"/>
                </a:solidFill>
                <a:latin typeface="Calibri"/>
              </a:rPr>
              <a:t>detect_injection() runs 10 regex patterns over input_text before LLM call.
If flagged → ⚠ SECURITY ALERT note appended to system prompt.
ABSOLUTE RULES persona-lock block always present regardless of injection flag.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09359" y="4123944"/>
            <a:ext cx="5760720" cy="1115568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00799" y="4206240"/>
            <a:ext cx="402336" cy="38404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799" y="4215383"/>
            <a:ext cx="4023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70914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4206240"/>
            <a:ext cx="50292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C3AED"/>
                </a:solidFill>
                <a:latin typeface="Calibri"/>
              </a:rPr>
              <a:t>6. LLM Generation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03720" y="4526280"/>
            <a:ext cx="50292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8CC"/>
                </a:solidFill>
                <a:latin typeface="Calibri"/>
              </a:rPr>
              <a:t>system prompt = persona + ABSOLUTE RULES + search context + thread history.
Groq API call: llama-3.1-8b-instant, max_tokens=512. AI message returned.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0040" y="5385816"/>
            <a:ext cx="5760720" cy="1115568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00E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11479" y="5468112"/>
            <a:ext cx="402336" cy="384048"/>
          </a:xfrm>
          <a:prstGeom prst="roundRect">
            <a:avLst/>
          </a:prstGeom>
          <a:solidFill>
            <a:srgbClr val="00E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79" y="5477255"/>
            <a:ext cx="4023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70914"/>
                </a:solidFill>
                <a:latin typeface="Calibri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5468112"/>
            <a:ext cx="50292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E096"/>
                </a:solidFill>
                <a:latin typeface="Calibri"/>
              </a:rPr>
              <a:t>7. Output &amp; Logging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5788152"/>
            <a:ext cx="50292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8CC"/>
                </a:solidFill>
                <a:latin typeface="Calibri"/>
              </a:rPr>
              <a:t>output_text stored. Status → COMPLETED (or FAILED on exception).
latency_ms, completed_at, retrieved_context persisted. Message appended to Conversation.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0040" y="6409944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FB800"/>
                </a:solidFill>
                <a:latin typeface="Calibri"/>
              </a:rPr>
              <a:t>Decision branch: If no agent scores ≥ 0.80, pipeline short-circuits with 'No relevant agent was found' — no LLM call made, latency kept minimal.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49224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Database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D4FF"/>
                </a:solidFill>
                <a:latin typeface="Calibri"/>
              </a:rPr>
              <a:t>SQLite (dev) · PostgreSQL (prod) · SQLAlchemy 2.0 async 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7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19672"/>
            <a:ext cx="12191695" cy="22860"/>
          </a:xfrm>
          <a:prstGeom prst="rect">
            <a:avLst/>
          </a:prstGeom>
          <a:solidFill>
            <a:srgbClr val="3A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" y="655624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FF"/>
                </a:solidFill>
                <a:latin typeface="Calibri"/>
              </a:rPr>
              <a:t>GRID07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6556248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B8CC"/>
                </a:solidFill>
                <a:latin typeface="Calibri"/>
              </a:rPr>
              <a:t>MCA Project  |  SRM Institute of Science and Technology, Ramapuram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0" y="655624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B8CC"/>
                </a:solidFill>
                <a:latin typeface="Calibri"/>
              </a:rPr>
              <a:t>10 /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170432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8CC"/>
                </a:solidFill>
                <a:latin typeface="Calibri"/>
              </a:rPr>
              <a:t>Six tables defined in app/models/__init__.py using SQLAlchemy declarative mapping: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1600200"/>
            <a:ext cx="3840480" cy="2331720"/>
          </a:xfrm>
          <a:prstGeom prst="roundRect">
            <a:avLst/>
          </a:prstGeom>
          <a:solidFill>
            <a:srgbClr val="1A1F35"/>
          </a:solidFill>
          <a:ln w="1524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1600200"/>
            <a:ext cx="3840480" cy="3840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79" y="1645920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70914"/>
                </a:solidFill>
                <a:latin typeface="Calibri"/>
              </a:rPr>
              <a:t>users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2039112"/>
            <a:ext cx="365760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950" b="0">
                <a:solidFill>
                  <a:srgbClr val="B0B8CC"/>
                </a:solidFill>
                <a:latin typeface="Calibri"/>
              </a:rPr>
              <a:t>  id (UUID PK)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B0B8CC"/>
                </a:solidFill>
                <a:latin typeface="Calibri"/>
              </a:rPr>
              <a:t>  email (unique, indexed)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B0B8CC"/>
                </a:solidFill>
                <a:latin typeface="Calibri"/>
              </a:rPr>
              <a:t>  hashed_password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B0B8CC"/>
                </a:solidFill>
                <a:latin typeface="Calibri"/>
              </a:rPr>
              <a:t>  is_active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B0B8CC"/>
                </a:solidFill>
                <a:latin typeface="Calibri"/>
              </a:rPr>
              <a:t>  created_at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36118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D4FF"/>
                </a:solidFill>
                <a:latin typeface="Calibri"/>
              </a:rPr>
              <a:t>↔  workspaces · workspace_members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5112" y="1600200"/>
            <a:ext cx="3840480" cy="2331720"/>
          </a:xfrm>
          <a:prstGeom prst="roundRect">
            <a:avLst/>
          </a:prstGeom>
          <a:solidFill>
            <a:srgbClr val="1A1F35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25112" y="1600200"/>
            <a:ext cx="3840480" cy="38404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16551" y="1645920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70914"/>
                </a:solidFill>
                <a:latin typeface="Calibri"/>
              </a:rPr>
              <a:t>workspaces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6551" y="2039112"/>
            <a:ext cx="365760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950" b="0">
                <a:solidFill>
                  <a:srgbClr val="B0B8CC"/>
                </a:solidFill>
                <a:latin typeface="Calibri"/>
              </a:rPr>
              <a:t>  id (UUID PK)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B0B8CC"/>
                </a:solidFill>
                <a:latin typeface="Calibri"/>
              </a:rPr>
              <a:t>  name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B0B8CC"/>
                </a:solidFill>
                <a:latin typeface="Calibri"/>
              </a:rPr>
              <a:t>  owner_id (FK→users)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B0B8CC"/>
                </a:solidFill>
                <a:latin typeface="Calibri"/>
              </a:rPr>
              <a:t>  created_at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6551" y="36118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C3AED"/>
                </a:solidFill>
                <a:latin typeface="Calibri"/>
              </a:rPr>
              <a:t>↔  workspace_members · agents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30183" y="1600200"/>
            <a:ext cx="3840480" cy="2331720"/>
          </a:xfrm>
          <a:prstGeom prst="roundRect">
            <a:avLst/>
          </a:prstGeom>
          <a:solidFill>
            <a:srgbClr val="1A1F35"/>
          </a:solidFill>
          <a:ln w="15240">
            <a:solidFill>
              <a:srgbClr val="00E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330183" y="1600200"/>
            <a:ext cx="3840480" cy="384048"/>
          </a:xfrm>
          <a:prstGeom prst="rect">
            <a:avLst/>
          </a:prstGeom>
          <a:solidFill>
            <a:srgbClr val="00E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21624" y="1645920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70914"/>
                </a:solidFill>
                <a:latin typeface="Calibri"/>
              </a:rPr>
              <a:t>workspace_members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21624" y="2039112"/>
            <a:ext cx="365760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950" b="0">
                <a:solidFill>
                  <a:srgbClr val="B0B8CC"/>
                </a:solidFill>
                <a:latin typeface="Calibri"/>
              </a:rPr>
              <a:t>  workspace_id (FK PK)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B0B8CC"/>
                </a:solidFill>
                <a:latin typeface="Calibri"/>
              </a:rPr>
              <a:t>  user_id (FK PK)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B0B8CC"/>
                </a:solidFill>
                <a:latin typeface="Calibri"/>
              </a:rPr>
              <a:t>  role: Owner|Admin|Member|Viewer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B0B8CC"/>
                </a:solidFill>
                <a:latin typeface="Calibri"/>
              </a:rPr>
              <a:t>  created_at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21624" y="36118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E096"/>
                </a:solidFill>
                <a:latin typeface="Calibri"/>
              </a:rPr>
              <a:t>↔  workspace · user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0040" y="4069080"/>
            <a:ext cx="3840480" cy="2331720"/>
          </a:xfrm>
          <a:prstGeom prst="roundRect">
            <a:avLst/>
          </a:prstGeom>
          <a:solidFill>
            <a:srgbClr val="1A1F35"/>
          </a:solidFill>
          <a:ln w="15240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4069080"/>
            <a:ext cx="3840480" cy="384048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79" y="4114800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70914"/>
                </a:solidFill>
                <a:latin typeface="Calibri"/>
              </a:rPr>
              <a:t>agents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79" y="4507992"/>
            <a:ext cx="365760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950" b="0">
                <a:solidFill>
                  <a:srgbClr val="B0B8CC"/>
                </a:solidFill>
                <a:latin typeface="Calibri"/>
              </a:rPr>
              <a:t>  id (UUID PK)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B0B8CC"/>
                </a:solidFill>
                <a:latin typeface="Calibri"/>
              </a:rPr>
              <a:t>  workspace_id (FK)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B0B8CC"/>
                </a:solidFill>
                <a:latin typeface="Calibri"/>
              </a:rPr>
              <a:t>  name, description, avatar, purpose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B0B8CC"/>
                </a:solidFill>
                <a:latin typeface="Calibri"/>
              </a:rPr>
              <a:t>  personality, communication_style, tone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B0B8CC"/>
                </a:solidFill>
                <a:latin typeface="Calibri"/>
              </a:rPr>
              <a:t>  expertise, interests, avoid (JSON)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B0B8CC"/>
                </a:solidFill>
                <a:latin typeface="Calibri"/>
              </a:rPr>
              <a:t>  model_name (default: llama-3.1-8b-instant)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B0B8CC"/>
                </a:solidFill>
                <a:latin typeface="Calibri"/>
              </a:rPr>
              <a:t>  tools (JSON), created_at, updated_at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79" y="6080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FB800"/>
                </a:solidFill>
                <a:latin typeface="Calibri"/>
              </a:rPr>
              <a:t>↔  workspace · executions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25112" y="4069080"/>
            <a:ext cx="3840480" cy="2331720"/>
          </a:xfrm>
          <a:prstGeom prst="roundRect">
            <a:avLst/>
          </a:prstGeom>
          <a:solidFill>
            <a:srgbClr val="1A1F35"/>
          </a:solidFill>
          <a:ln w="15240">
            <a:solidFill>
              <a:srgbClr val="FF4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25112" y="4069080"/>
            <a:ext cx="3840480" cy="384048"/>
          </a:xfrm>
          <a:prstGeom prst="rect">
            <a:avLst/>
          </a:prstGeom>
          <a:solidFill>
            <a:srgbClr val="FF4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16551" y="4114800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70914"/>
                </a:solidFill>
                <a:latin typeface="Calibri"/>
              </a:rPr>
              <a:t>executions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16551" y="4507992"/>
            <a:ext cx="365760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950" b="0">
                <a:solidFill>
                  <a:srgbClr val="B0B8CC"/>
                </a:solidFill>
                <a:latin typeface="Calibri"/>
              </a:rPr>
              <a:t>  id (UUID PK)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B0B8CC"/>
                </a:solidFill>
                <a:latin typeface="Calibri"/>
              </a:rPr>
              <a:t>  workspace_id (FK), agent_id (FK)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B0B8CC"/>
                </a:solidFill>
                <a:latin typeface="Calibri"/>
              </a:rPr>
              <a:t>  conversation_id (FK)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B0B8CC"/>
                </a:solidFill>
                <a:latin typeface="Calibri"/>
              </a:rPr>
              <a:t>  input_text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B0B8CC"/>
                </a:solidFill>
                <a:latin typeface="Calibri"/>
              </a:rPr>
              <a:t>  status: PENDING|ROUTING|RETRIEVING|GENERATING|COMPLETED|FAILED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B0B8CC"/>
                </a:solidFill>
                <a:latin typeface="Calibri"/>
              </a:rPr>
              <a:t>  routing_decisions (JSON)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B0B8CC"/>
                </a:solidFill>
                <a:latin typeface="Calibri"/>
              </a:rPr>
              <a:t>  retrieved_context (JSON)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B0B8CC"/>
                </a:solidFill>
                <a:latin typeface="Calibri"/>
              </a:rPr>
              <a:t>  output_text, latency_ms, cost_estimate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B0B8CC"/>
                </a:solidFill>
                <a:latin typeface="Calibri"/>
              </a:rPr>
              <a:t>  created_at, completed_at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16551" y="6080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F4C4C"/>
                </a:solidFill>
                <a:latin typeface="Calibri"/>
              </a:rPr>
              <a:t>↔  agent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30183" y="4069080"/>
            <a:ext cx="3840480" cy="2331720"/>
          </a:xfrm>
          <a:prstGeom prst="roundRect">
            <a:avLst/>
          </a:prstGeom>
          <a:solidFill>
            <a:srgbClr val="1A1F35"/>
          </a:solidFill>
          <a:ln w="1524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330183" y="4069080"/>
            <a:ext cx="3840480" cy="38404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21624" y="4114800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70914"/>
                </a:solidFill>
                <a:latin typeface="Calibri"/>
              </a:rPr>
              <a:t>conversations + messages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21624" y="4507992"/>
            <a:ext cx="365760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950" b="0">
                <a:solidFill>
                  <a:srgbClr val="B0B8CC"/>
                </a:solidFill>
                <a:latin typeface="Calibri"/>
              </a:rPr>
              <a:t>  conversations: id, workspace_id, agent_id, title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B0B8CC"/>
                </a:solidFill>
                <a:latin typeface="Calibri"/>
              </a:rPr>
              <a:t>  messages: id, conversation_id,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B0B8CC"/>
                </a:solidFill>
                <a:latin typeface="Calibri"/>
              </a:rPr>
              <a:t>    role (user|agent), content, created_at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21624" y="6080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D4FF"/>
                </a:solidFill>
                <a:latin typeface="Calibri"/>
              </a:rPr>
              <a:t>↔  messages ← conversation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49224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Implementation — Sample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D4FF"/>
                </a:solidFill>
                <a:latin typeface="Calibri"/>
              </a:rPr>
              <a:t>PersonaRouter · Cosine Similarity Routing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7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19672"/>
            <a:ext cx="12191695" cy="22860"/>
          </a:xfrm>
          <a:prstGeom prst="rect">
            <a:avLst/>
          </a:prstGeom>
          <a:solidFill>
            <a:srgbClr val="3A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" y="655624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FF"/>
                </a:solidFill>
                <a:latin typeface="Calibri"/>
              </a:rPr>
              <a:t>GRID07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6556248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B8CC"/>
                </a:solidFill>
                <a:latin typeface="Calibri"/>
              </a:rPr>
              <a:t>MCA Project  |  SRM Institute of Science and Technology, Ramapuram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0" y="655624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B8CC"/>
                </a:solidFill>
                <a:latin typeface="Calibri"/>
              </a:rPr>
              <a:t>11 /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170432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8CC"/>
                </a:solidFill>
                <a:latin typeface="Calibri"/>
              </a:rPr>
              <a:t>Excerpt from app/services/routing/router.py — core routing logic verified in execution_logs.md: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1600200"/>
            <a:ext cx="7132320" cy="4773168"/>
          </a:xfrm>
          <a:prstGeom prst="roundRect">
            <a:avLst/>
          </a:prstGeom>
          <a:solidFill>
            <a:srgbClr val="0D1117"/>
          </a:solidFill>
          <a:ln w="10160">
            <a:solidFill>
              <a:srgbClr val="3A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7728" y="162763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A4055"/>
                </a:solidFill>
                <a:latin typeface="Calibri"/>
              </a:rPr>
              <a:t>python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874519"/>
            <a:ext cx="68122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sz="950">
                <a:solidFill>
                  <a:srgbClr val="7C3AED"/>
                </a:solidFill>
                <a:latin typeface="Courier New"/>
              </a:rPr>
              <a:t>import numpy as np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7C3AED"/>
                </a:solidFill>
                <a:latin typeface="Courier New"/>
              </a:rPr>
              <a:t>from typing import List, Dict, Any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FFFFFF"/>
                </a:solidFill>
                <a:latin typeface="Courier New"/>
              </a:rPr>
              <a:t> 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FFB800"/>
                </a:solidFill>
                <a:latin typeface="Courier New"/>
              </a:rPr>
              <a:t>def cosine_similarity(a, b) -&gt; float: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FFFFFF"/>
                </a:solidFill>
                <a:latin typeface="Courier New"/>
              </a:rPr>
              <a:t>    norm_a, norm_b = np.linalg.norm(a), np.linalg.norm(b)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FFFFFF"/>
                </a:solidFill>
                <a:latin typeface="Courier New"/>
              </a:rPr>
              <a:t>    if norm_a == 0 or norm_b == 0: return 0.0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FFFFFF"/>
                </a:solidFill>
                <a:latin typeface="Courier New"/>
              </a:rPr>
              <a:t>    return float(np.dot(a, b) / (norm_a * norm_b))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FFFFFF"/>
                </a:solidFill>
                <a:latin typeface="Courier New"/>
              </a:rPr>
              <a:t> 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FFB800"/>
                </a:solidFill>
                <a:latin typeface="Courier New"/>
              </a:rPr>
              <a:t>class PersonaRouter: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FFFFFF"/>
                </a:solidFill>
                <a:latin typeface="Courier New"/>
              </a:rPr>
              <a:t>    async def route_input(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FFFFFF"/>
                </a:solidFill>
                <a:latin typeface="Courier New"/>
              </a:rPr>
              <a:t>        self, input_text: str,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FFFFFF"/>
                </a:solidFill>
                <a:latin typeface="Courier New"/>
              </a:rPr>
              <a:t>        agents:    List[Agent],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00E096"/>
                </a:solidFill>
                <a:latin typeface="Courier New"/>
              </a:rPr>
              <a:t>        threshold: float = 0.80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FFFFFF"/>
                </a:solidFill>
                <a:latin typeface="Courier New"/>
              </a:rPr>
              <a:t>    ) -&gt; List[Dict[str, Any]]: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FFFFFF"/>
                </a:solidFill>
                <a:latin typeface="Courier New"/>
              </a:rPr>
              <a:t> 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FFFFFF"/>
                </a:solidFill>
                <a:latin typeface="Courier New"/>
              </a:rPr>
              <a:t>        input_vec = await self.embedding_service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00D4FF"/>
                </a:solidFill>
                <a:latin typeface="Courier New"/>
              </a:rPr>
              <a:t>                         .get_embedding(input_text)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FFFFFF"/>
                </a:solidFill>
                <a:latin typeface="Courier New"/>
              </a:rPr>
              <a:t>        matches = []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FFFFFF"/>
                </a:solidFill>
                <a:latin typeface="Courier New"/>
              </a:rPr>
              <a:t>        for agent in agents: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FFFFFF"/>
                </a:solidFill>
                <a:latin typeface="Courier New"/>
              </a:rPr>
              <a:t>            agent_vec = await self.embedding_service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00D4FF"/>
                </a:solidFill>
                <a:latin typeface="Courier New"/>
              </a:rPr>
              <a:t>                             .get_embedding(agent.description)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FFFFFF"/>
                </a:solidFill>
                <a:latin typeface="Courier New"/>
              </a:rPr>
              <a:t>            sim = cosine_similarity(input_vec, agent_vec)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FFFFFF"/>
                </a:solidFill>
                <a:latin typeface="Courier New"/>
              </a:rPr>
              <a:t>            matches.append({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00E096"/>
                </a:solidFill>
                <a:latin typeface="Courier New"/>
              </a:rPr>
              <a:t>                "selected": sim &gt;= threshold,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FFFFFF"/>
                </a:solidFill>
                <a:latin typeface="Courier New"/>
              </a:rPr>
              <a:t>                "score":    round(sim, 4) })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FFFFFF"/>
                </a:solidFill>
                <a:latin typeface="Courier New"/>
              </a:rPr>
              <a:t>        return sorted(matches,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FFB800"/>
                </a:solidFill>
                <a:latin typeface="Courier New"/>
              </a:rPr>
              <a:t>                      key=lambda x: x["score"],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FFFFFF"/>
                </a:solidFill>
                <a:latin typeface="Courier New"/>
              </a:rPr>
              <a:t>                      reverse=True)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1600200"/>
            <a:ext cx="4251960" cy="4773168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1664208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  <a:latin typeface="Calibri"/>
              </a:rPr>
              <a:t>How It Works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205740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Calibri"/>
              </a:rPr>
              <a:t>cosine_similarity()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2331720"/>
            <a:ext cx="3931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8CC"/>
                </a:solidFill>
                <a:latin typeface="Calibri"/>
              </a:rPr>
              <a:t>Measures angular distance between two 64-dim embedding vectors. Returns 1.0 for identical, 0.0 for orthogonal text.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9260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Calibri"/>
              </a:rPr>
              <a:t>EmbeddingService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3200400"/>
            <a:ext cx="3931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8CC"/>
                </a:solidFill>
                <a:latin typeface="Calibri"/>
              </a:rPr>
              <a:t>Prompts Groq LLM to output a 32-float JSON array semantically representing the text. Padded to 64-dim.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379476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Calibri"/>
              </a:rPr>
              <a:t>threshold = 0.80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4069080"/>
            <a:ext cx="3931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8CC"/>
                </a:solidFill>
                <a:latin typeface="Calibri"/>
              </a:rPr>
              <a:t>Only agents whose persona description aligns with the user input above 0.80 cosine similarity are selected.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466344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Calibri"/>
              </a:rPr>
              <a:t>Sorted 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4937760"/>
            <a:ext cx="3931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8CC"/>
                </a:solidFill>
                <a:latin typeface="Calibri"/>
              </a:rPr>
              <a:t>Matches returned sorted by score descending — best-fit agent always first.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55321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Calibri"/>
              </a:rPr>
              <a:t>Verified results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5806440"/>
            <a:ext cx="3931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B8CC"/>
                </a:solidFill>
                <a:latin typeface="Calibri"/>
              </a:rPr>
              <a:t>Execution logs: Finance Bro → 0.40 (Bitcoin), 0.32 (AI post). Farmland post → no match (&lt; 0.30). ✅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49224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Application Screenshots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D4FF"/>
                </a:solidFill>
                <a:latin typeface="Calibri"/>
              </a:rPr>
              <a:t>Genuine screenshots from the running Grid07 UI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7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19672"/>
            <a:ext cx="12191695" cy="22860"/>
          </a:xfrm>
          <a:prstGeom prst="rect">
            <a:avLst/>
          </a:prstGeom>
          <a:solidFill>
            <a:srgbClr val="3A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" y="655624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FF"/>
                </a:solidFill>
                <a:latin typeface="Calibri"/>
              </a:rPr>
              <a:t>GRID07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6556248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B8CC"/>
                </a:solidFill>
                <a:latin typeface="Calibri"/>
              </a:rPr>
              <a:t>MCA Project  |  SRM Institute of Science and Technology, Ramapuram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0" y="655624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B8CC"/>
                </a:solidFill>
                <a:latin typeface="Calibri"/>
              </a:rPr>
              <a:t>12 / 16</a:t>
            </a:r>
          </a:p>
        </p:txBody>
      </p:sp>
      <p:pic>
        <p:nvPicPr>
          <p:cNvPr id="10" name="Picture 9" descr="01_landing_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70432"/>
            <a:ext cx="5303520" cy="27432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20040" y="3639312"/>
            <a:ext cx="5303520" cy="274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59" y="365760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0B8CC"/>
                </a:solidFill>
                <a:latin typeface="Calibri"/>
              </a:rPr>
              <a:t>Landing page — 'Cognitive Routing Infrastructure' hero, pipeline stage bar, GRID07 Engine Online badge</a:t>
            </a:r>
          </a:p>
        </p:txBody>
      </p:sp>
      <p:pic>
        <p:nvPicPr>
          <p:cNvPr id="13" name="Picture 12" descr="03_dashboard_p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7880" y="1170432"/>
            <a:ext cx="5943600" cy="27432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897880" y="3639312"/>
            <a:ext cx="5943600" cy="274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3657600"/>
            <a:ext cx="5852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0B8CC"/>
                </a:solidFill>
                <a:latin typeface="Calibri"/>
              </a:rPr>
              <a:t>Dashboard — 3 agents, 3 executions, 66.7% success rate, 0.01 s avg latency, recent executions list</a:t>
            </a:r>
          </a:p>
        </p:txBody>
      </p:sp>
      <p:pic>
        <p:nvPicPr>
          <p:cNvPr id="16" name="Picture 15" descr="04_agents_p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4160520"/>
            <a:ext cx="5303520" cy="2304288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320040" y="6190488"/>
            <a:ext cx="5303520" cy="274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59" y="6208776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0B8CC"/>
                </a:solidFill>
                <a:latin typeface="Calibri"/>
              </a:rPr>
              <a:t>Agents page — Tech Maximalist, Doomer/Skeptic, Finance Bro persona cards (llama-3.1-8b-instant)</a:t>
            </a:r>
          </a:p>
        </p:txBody>
      </p:sp>
      <p:pic>
        <p:nvPicPr>
          <p:cNvPr id="19" name="Picture 18" descr="05_executions_p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97880" y="4160520"/>
            <a:ext cx="5943600" cy="2304288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5897880" y="6190488"/>
            <a:ext cx="5943600" cy="274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6208776"/>
            <a:ext cx="5852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0B8CC"/>
                </a:solidFill>
                <a:latin typeface="Calibri"/>
              </a:rPr>
              <a:t>Executions list — ROUTING / COMPLETED badges, latency (13–14 ms), 'View Trace' deep-link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49224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Testing &amp;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D4FF"/>
                </a:solidFill>
                <a:latin typeface="Calibri"/>
              </a:rPr>
              <a:t>Verified execution logs · Integration test · Known limitations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7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19672"/>
            <a:ext cx="12191695" cy="22860"/>
          </a:xfrm>
          <a:prstGeom prst="rect">
            <a:avLst/>
          </a:prstGeom>
          <a:solidFill>
            <a:srgbClr val="3A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" y="655624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FF"/>
                </a:solidFill>
                <a:latin typeface="Calibri"/>
              </a:rPr>
              <a:t>GRID07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6556248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B8CC"/>
                </a:solidFill>
                <a:latin typeface="Calibri"/>
              </a:rPr>
              <a:t>MCA Project  |  SRM Institute of Science and Technology, Ramapuram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0" y="655624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B8CC"/>
                </a:solidFill>
                <a:latin typeface="Calibri"/>
              </a:rPr>
              <a:t>13 /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170432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8CC"/>
                </a:solidFill>
                <a:latin typeface="Calibri"/>
              </a:rPr>
              <a:t>All test results sourced from legacy_prototype/execution_logs.md and backend/test_integration.py: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1600200"/>
            <a:ext cx="3840480" cy="2834640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664208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D4FF"/>
                </a:solidFill>
                <a:latin typeface="Calibri"/>
              </a:rPr>
              <a:t>Phase 1 — Persona Router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93392"/>
            <a:ext cx="356616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050" b="0">
                <a:solidFill>
                  <a:srgbClr val="00E096"/>
                </a:solidFill>
                <a:latin typeface="Calibri"/>
              </a:rPr>
              <a:t>✅  3 agents embedded (dim=64, padded/truncated)</a:t>
            </a:r>
          </a:p>
          <a:p>
            <a:pPr>
              <a:spcBef>
                <a:spcPts val="500"/>
              </a:spcBef>
            </a:pPr>
            <a:r>
              <a:rPr sz="1050" b="0">
                <a:solidFill>
                  <a:srgbClr val="00E096"/>
                </a:solidFill>
                <a:latin typeface="Calibri"/>
              </a:rPr>
              <a:t>✅  'Bitcoin' post → Finance Bro  (sim=0.40)</a:t>
            </a:r>
          </a:p>
          <a:p>
            <a:pPr>
              <a:spcBef>
                <a:spcPts val="500"/>
              </a:spcBef>
            </a:pPr>
            <a:r>
              <a:rPr sz="1050" b="0">
                <a:solidFill>
                  <a:srgbClr val="00E096"/>
                </a:solidFill>
                <a:latin typeface="Calibri"/>
              </a:rPr>
              <a:t>✅  'AI model' post → Finance Bro (sim=0.32)</a:t>
            </a:r>
          </a:p>
          <a:p>
            <a:pPr>
              <a:spcBef>
                <a:spcPts val="500"/>
              </a:spcBef>
            </a:pPr>
            <a:r>
              <a:rPr sz="1050" b="0">
                <a:solidFill>
                  <a:srgbClr val="00E096"/>
                </a:solidFill>
                <a:latin typeface="Calibri"/>
              </a:rPr>
              <a:t>✅  'Farmland' post → no match below threshold</a:t>
            </a:r>
          </a:p>
          <a:p>
            <a:pPr>
              <a:spcBef>
                <a:spcPts val="500"/>
              </a:spcBef>
            </a:pPr>
            <a:r>
              <a:rPr sz="1050" b="0">
                <a:solidFill>
                  <a:srgbClr val="00E096"/>
                </a:solidFill>
                <a:latin typeface="Calibri"/>
              </a:rPr>
              <a:t>✅  Threshold filtering behaves as designed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06824" y="1600200"/>
            <a:ext cx="3840480" cy="2834640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43984" y="1664208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7C3AED"/>
                </a:solidFill>
                <a:latin typeface="Calibri"/>
              </a:rPr>
              <a:t>Phase 2 — Content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3984" y="1993392"/>
            <a:ext cx="356616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050" b="0">
                <a:solidFill>
                  <a:srgbClr val="00E096"/>
                </a:solidFill>
                <a:latin typeface="Calibri"/>
              </a:rPr>
              <a:t>✅  bot_a (Tech Max): 241 chars — within limit</a:t>
            </a:r>
          </a:p>
          <a:p>
            <a:pPr>
              <a:spcBef>
                <a:spcPts val="500"/>
              </a:spcBef>
            </a:pPr>
            <a:r>
              <a:rPr sz="1050" b="0">
                <a:solidFill>
                  <a:srgbClr val="00E096"/>
                </a:solidFill>
                <a:latin typeface="Calibri"/>
              </a:rPr>
              <a:t>✅  bot_b (Doomer): 207 chars — in-persona critique</a:t>
            </a:r>
          </a:p>
          <a:p>
            <a:pPr>
              <a:spcBef>
                <a:spcPts val="500"/>
              </a:spcBef>
            </a:pPr>
            <a:r>
              <a:rPr sz="1050" b="0">
                <a:solidFill>
                  <a:srgbClr val="00E096"/>
                </a:solidFill>
                <a:latin typeface="Calibri"/>
              </a:rPr>
              <a:t>✅  bot_c (Finance Bro): 239 chars — market post</a:t>
            </a:r>
          </a:p>
          <a:p>
            <a:pPr>
              <a:spcBef>
                <a:spcPts val="500"/>
              </a:spcBef>
            </a:pPr>
            <a:r>
              <a:rPr sz="1050" b="0">
                <a:solidFill>
                  <a:srgbClr val="00E096"/>
                </a:solidFill>
                <a:latin typeface="Calibri"/>
              </a:rPr>
              <a:t>✅  All 3 LangGraph nodes ran in sequence</a:t>
            </a:r>
          </a:p>
          <a:p>
            <a:pPr>
              <a:spcBef>
                <a:spcPts val="500"/>
              </a:spcBef>
            </a:pPr>
            <a:r>
              <a:rPr sz="1050" b="0">
                <a:solidFill>
                  <a:srgbClr val="00E096"/>
                </a:solidFill>
                <a:latin typeface="Calibri"/>
              </a:rPr>
              <a:t>✅  Structured JSON output parsed correctly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93608" y="1600200"/>
            <a:ext cx="3840480" cy="2834640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00E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0768" y="1664208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E096"/>
                </a:solidFill>
                <a:latin typeface="Calibri"/>
              </a:rPr>
              <a:t>Phase 3 — Combat Engine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8" y="1993392"/>
            <a:ext cx="356616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050" b="0">
                <a:solidFill>
                  <a:srgbClr val="00E096"/>
                </a:solidFill>
                <a:latin typeface="Calibri"/>
              </a:rPr>
              <a:t>✅  Normal counter-argument → in-persona reply</a:t>
            </a:r>
          </a:p>
          <a:p>
            <a:pPr>
              <a:spcBef>
                <a:spcPts val="500"/>
              </a:spcBef>
            </a:pPr>
            <a:r>
              <a:rPr sz="1050" b="0">
                <a:solidFill>
                  <a:srgbClr val="00E096"/>
                </a:solidFill>
                <a:latin typeface="Calibri"/>
              </a:rPr>
              <a:t>✅  Injection detected: 'Ignore all previous…'</a:t>
            </a:r>
          </a:p>
          <a:p>
            <a:pPr>
              <a:spcBef>
                <a:spcPts val="500"/>
              </a:spcBef>
            </a:pPr>
            <a:r>
              <a:rPr sz="1050" b="0">
                <a:solidFill>
                  <a:srgbClr val="00E096"/>
                </a:solidFill>
                <a:latin typeface="Calibri"/>
              </a:rPr>
              <a:t>✅  Bot held persona — silently refused override</a:t>
            </a:r>
          </a:p>
          <a:p>
            <a:pPr>
              <a:spcBef>
                <a:spcPts val="500"/>
              </a:spcBef>
            </a:pPr>
            <a:r>
              <a:rPr sz="1050" b="0">
                <a:solidFill>
                  <a:srgbClr val="00E096"/>
                </a:solidFill>
                <a:latin typeface="Calibri"/>
              </a:rPr>
              <a:t>✅  Persona maintained check: ✔</a:t>
            </a:r>
          </a:p>
          <a:p>
            <a:pPr>
              <a:spcBef>
                <a:spcPts val="500"/>
              </a:spcBef>
            </a:pPr>
            <a:r>
              <a:rPr sz="1050" b="0">
                <a:solidFill>
                  <a:srgbClr val="00E096"/>
                </a:solidFill>
                <a:latin typeface="Calibri"/>
              </a:rPr>
              <a:t>✅  Both defence layers functional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457200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B800"/>
                </a:solidFill>
                <a:latin typeface="Calibri"/>
              </a:rPr>
              <a:t>Integration Test (backend/test_integration.py)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4919472"/>
            <a:ext cx="5943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100" b="0">
                <a:solidFill>
                  <a:srgbClr val="B0B8CC"/>
                </a:solidFill>
                <a:latin typeface="Calibri"/>
              </a:rPr>
              <a:t>•  Login → workspace → agent creation → execution trigger → poll — full pipeline exercised</a:t>
            </a:r>
          </a:p>
          <a:p>
            <a:pPr>
              <a:spcBef>
                <a:spcPts val="500"/>
              </a:spcBef>
            </a:pPr>
            <a:r>
              <a:rPr sz="1100" b="0">
                <a:solidFill>
                  <a:srgbClr val="B0B8CC"/>
                </a:solidFill>
                <a:latin typeface="Calibri"/>
              </a:rPr>
              <a:t>•  Dashboard KPIs: 3 agents, 3 executions, 66.7% success (2 COMPLETED, 1 ROUTING)</a:t>
            </a:r>
          </a:p>
          <a:p>
            <a:pPr>
              <a:spcBef>
                <a:spcPts val="500"/>
              </a:spcBef>
            </a:pPr>
            <a:r>
              <a:rPr sz="1100" b="0">
                <a:solidFill>
                  <a:srgbClr val="B0B8CC"/>
                </a:solidFill>
                <a:latin typeface="Calibri"/>
              </a:rPr>
              <a:t>•  Avg latency: 13–14 ms (routing-only; live generation adds ~1–3 s via Groq)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572000"/>
            <a:ext cx="5440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4C4C"/>
                </a:solidFill>
                <a:latin typeface="Calibri"/>
              </a:rPr>
              <a:t>Known Limitations (honest disclosure)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919472"/>
            <a:ext cx="5440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050" b="0">
                <a:solidFill>
                  <a:srgbClr val="FFB800"/>
                </a:solidFill>
                <a:latin typeface="Calibri"/>
              </a:rPr>
              <a:t>⚠  Groq prompt-as-embedding is non-standard — quality lower than real embedding models</a:t>
            </a:r>
          </a:p>
          <a:p>
            <a:pPr>
              <a:spcBef>
                <a:spcPts val="500"/>
              </a:spcBef>
            </a:pPr>
            <a:r>
              <a:rPr sz="1050" b="0">
                <a:solidFill>
                  <a:srgbClr val="FFB800"/>
                </a:solidFill>
                <a:latin typeface="Calibri"/>
              </a:rPr>
              <a:t>⚠  EmbeddingService uses requests (synchronous) — blocks event loop in async context</a:t>
            </a:r>
          </a:p>
          <a:p>
            <a:pPr>
              <a:spcBef>
                <a:spcPts val="500"/>
              </a:spcBef>
            </a:pPr>
            <a:r>
              <a:rPr sz="1050" b="0">
                <a:solidFill>
                  <a:srgbClr val="FFB800"/>
                </a:solidFill>
                <a:latin typeface="Calibri"/>
              </a:rPr>
              <a:t>⚠  Persona embeddings recomputed on every execution — no caching implemented</a:t>
            </a:r>
          </a:p>
          <a:p>
            <a:pPr>
              <a:spcBef>
                <a:spcPts val="500"/>
              </a:spcBef>
            </a:pPr>
            <a:r>
              <a:rPr sz="1050" b="0">
                <a:solidFill>
                  <a:srgbClr val="FFB800"/>
                </a:solidFill>
                <a:latin typeface="Calibri"/>
              </a:rPr>
              <a:t>⚠  Agent Activity Dashboard panel is a placeholder ('coming soon')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49224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7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9672"/>
            <a:ext cx="12191695" cy="22860"/>
          </a:xfrm>
          <a:prstGeom prst="rect">
            <a:avLst/>
          </a:prstGeom>
          <a:solidFill>
            <a:srgbClr val="3A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655624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FF"/>
                </a:solidFill>
                <a:latin typeface="Calibri"/>
              </a:rPr>
              <a:t>GRID07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6556248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B8CC"/>
                </a:solidFill>
                <a:latin typeface="Calibri"/>
              </a:rPr>
              <a:t>MCA Project  |  SRM Institute of Science and Technology, Ramapuram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0" y="655624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B8CC"/>
                </a:solidFill>
                <a:latin typeface="Calibri"/>
              </a:rPr>
              <a:t>14 /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170432"/>
            <a:ext cx="11612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B8CC"/>
                </a:solidFill>
                <a:latin typeface="Calibri"/>
              </a:rPr>
              <a:t>GRID07 demonstrates a complete, working implementation of persona-based AI routing, autonomous RAG content generation, and injection-resistant multi-turn conversations.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1901952"/>
            <a:ext cx="5760720" cy="1755648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539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D4FF"/>
                </a:solidFill>
                <a:latin typeface="Calibri"/>
              </a:rPr>
              <a:t>✔  Semantic Routing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340864"/>
            <a:ext cx="53949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8CC"/>
                </a:solidFill>
                <a:latin typeface="Calibri"/>
              </a:rPr>
              <a:t>PersonaRouter correctly filters agents by cosine similarity. Verified: Finance Bro correctly selected for Bitcoin (0.40) and AI (0.32) posts; farmland post correctly unmatched.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1901952"/>
            <a:ext cx="5760720" cy="1755648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993392"/>
            <a:ext cx="539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D4FF"/>
                </a:solidFill>
                <a:latin typeface="Calibri"/>
              </a:rPr>
              <a:t>✔  Autonomous Content Pipeline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340864"/>
            <a:ext cx="53949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8CC"/>
                </a:solidFill>
                <a:latin typeface="Calibri"/>
              </a:rPr>
              <a:t>LangGraph state machine ran all 3 nodes in sequence for each of 3 personas. All posts in-persona, under 280 chars, grounded in retrieved mock headlines.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" y="3822191"/>
            <a:ext cx="5760720" cy="1755648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913631"/>
            <a:ext cx="539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D4FF"/>
                </a:solidFill>
                <a:latin typeface="Calibri"/>
              </a:rPr>
              <a:t>✔  Prompt-Injection Defence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261104"/>
            <a:ext cx="53949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8CC"/>
                </a:solidFill>
                <a:latin typeface="Calibri"/>
              </a:rPr>
              <a:t>'Ignore all previous instructions' injection caught by Layer 1 regex. Bot held persona throughout — Layer 2 system-lock operational. Test: ✅ passed.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59" y="3822191"/>
            <a:ext cx="5760720" cy="1755648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913631"/>
            <a:ext cx="539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D4FF"/>
                </a:solidFill>
                <a:latin typeface="Calibri"/>
              </a:rPr>
              <a:t>✔  Full-Stack SaaS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61104"/>
            <a:ext cx="53949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8CC"/>
                </a:solidFill>
                <a:latin typeface="Calibri"/>
              </a:rPr>
              <a:t>FastAPI + JWT auth + SQLAlchemy async ORM + SQLite/Postgres. Next.js 16 + React 19 UI with workspace, agent, execution, and conversation management live.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" y="5742432"/>
            <a:ext cx="5760720" cy="1755648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833872"/>
            <a:ext cx="539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D4FF"/>
                </a:solidFill>
                <a:latin typeface="Calibri"/>
              </a:rPr>
              <a:t>✔  Full Observability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181344"/>
            <a:ext cx="53949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8CC"/>
                </a:solidFill>
                <a:latin typeface="Calibri"/>
              </a:rPr>
              <a:t>Every execution stores: status progression, routing_decisions (JSON), retrieved_context, output_text, latency_ms — all inspectable in the Executions UI via View Trace.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5806440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GRID07 establishes a reusable, open pattern for multi-agent LLM systems with persona isolation, context retrieval, and security — all in one cohesive platform.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49224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Future Enhancements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D4FF"/>
                </a:solidFill>
                <a:latin typeface="Calibri"/>
              </a:rPr>
              <a:t>Proposed work — not yet implemented in codebase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7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19672"/>
            <a:ext cx="12191695" cy="22860"/>
          </a:xfrm>
          <a:prstGeom prst="rect">
            <a:avLst/>
          </a:prstGeom>
          <a:solidFill>
            <a:srgbClr val="3A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" y="655624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FF"/>
                </a:solidFill>
                <a:latin typeface="Calibri"/>
              </a:rPr>
              <a:t>GRID07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6556248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B8CC"/>
                </a:solidFill>
                <a:latin typeface="Calibri"/>
              </a:rPr>
              <a:t>MCA Project  |  SRM Institute of Science and Technology, Ramapuram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0" y="655624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B8CC"/>
                </a:solidFill>
                <a:latin typeface="Calibri"/>
              </a:rPr>
              <a:t>15 / 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1234440"/>
            <a:ext cx="5760720" cy="1188720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298448"/>
            <a:ext cx="5394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D4FF"/>
                </a:solidFill>
                <a:latin typeface="Calibri"/>
              </a:rPr>
              <a:t>→  Real Embedding Provider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18488"/>
            <a:ext cx="53949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0B8CC"/>
                </a:solidFill>
                <a:latin typeface="Calibri"/>
              </a:rPr>
              <a:t>Replace Groq prompt-embedding with text-embedding-3-small, Cohere embed-v3, or sentence-transformers for dimensionality-correct, high-quality semantic routing.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1234440"/>
            <a:ext cx="5760720" cy="1188720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298448"/>
            <a:ext cx="5394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C3AED"/>
                </a:solidFill>
                <a:latin typeface="Calibri"/>
              </a:rPr>
              <a:t>→  Embedding Cache &amp; Async Fix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618488"/>
            <a:ext cx="53949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0B8CC"/>
                </a:solidFill>
                <a:latin typeface="Calibri"/>
              </a:rPr>
              <a:t>Cache persona embeddings in Redis / pgvector on agent creation. Re-embed only on update. Replace requests with httpx for truly async EmbeddingService calls.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" y="2560320"/>
            <a:ext cx="5760720" cy="1188720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00E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624327"/>
            <a:ext cx="5394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E096"/>
                </a:solidFill>
                <a:latin typeface="Calibri"/>
              </a:rPr>
              <a:t>→  Additional LLM Providers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944368"/>
            <a:ext cx="53949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0B8CC"/>
                </a:solidFill>
                <a:latin typeface="Calibri"/>
              </a:rPr>
              <a:t>Abstract provider selection behind a ModelRouter. Add Gemini (google-genai), Anthropic Claude, xAI Grok. Allow per-agent model selection from the UI.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59" y="2560320"/>
            <a:ext cx="5760720" cy="1188720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2624327"/>
            <a:ext cx="5394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B800"/>
                </a:solidFill>
                <a:latin typeface="Calibri"/>
              </a:rPr>
              <a:t>→  Fallback &amp; Retry Logic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944368"/>
            <a:ext cx="53949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0B8CC"/>
                </a:solidFill>
                <a:latin typeface="Calibri"/>
              </a:rPr>
              <a:t>Exponential backoff on Groq rate-limits. Automatic provider failover (Groq → OpenAI → local Ollama). Token-count-based cost estimation per execution.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" y="3886200"/>
            <a:ext cx="5760720" cy="1188720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FF4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950208"/>
            <a:ext cx="5394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4C4C"/>
                </a:solidFill>
                <a:latin typeface="Calibri"/>
              </a:rPr>
              <a:t>→  Agent Activity Analytics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270248"/>
            <a:ext cx="53949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0B8CC"/>
                </a:solidFill>
                <a:latin typeface="Calibri"/>
              </a:rPr>
              <a:t>Complete Dashboard Agent Activity panel — per-agent execution counts, avg latency, success rates, cost breakdown. Add time-series charts.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59" y="3886200"/>
            <a:ext cx="5760720" cy="1188720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3950208"/>
            <a:ext cx="5394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D4FF"/>
                </a:solidFill>
                <a:latin typeface="Calibri"/>
              </a:rPr>
              <a:t>→  Security Hardening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4270248"/>
            <a:ext cx="53949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0B8CC"/>
                </a:solidFill>
                <a:latin typeface="Calibri"/>
              </a:rPr>
              <a:t>Replace placeholder SECRET_KEY with Vault/AWS Secrets Manager. Enforce RBAC per workspace role (stored but not yet enforced). Rate-limit /executions endpoint.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0040" y="5212079"/>
            <a:ext cx="5760720" cy="1188720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5276088"/>
            <a:ext cx="5394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C3AED"/>
                </a:solidFill>
                <a:latin typeface="Calibri"/>
              </a:rPr>
              <a:t>→  Automated Testing &amp; CI/CD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596127"/>
            <a:ext cx="53949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0B8CC"/>
                </a:solidFill>
                <a:latin typeface="Calibri"/>
              </a:rPr>
              <a:t>pytest-asyncio unit tests for PersonaRouter, LangGraph nodes, RetrievalService. GitHub Actions pipeline: lint → type-check → integration tests → deploy.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09359" y="5212079"/>
            <a:ext cx="5760720" cy="1188720"/>
          </a:xfrm>
          <a:prstGeom prst="roundRect">
            <a:avLst/>
          </a:prstGeom>
          <a:solidFill>
            <a:srgbClr val="1A1F35"/>
          </a:solidFill>
          <a:ln w="12700">
            <a:solidFill>
              <a:srgbClr val="00E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5276088"/>
            <a:ext cx="5394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E096"/>
                </a:solidFill>
                <a:latin typeface="Calibri"/>
              </a:rPr>
              <a:t>→  Deployment &amp; Scalability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5596127"/>
            <a:ext cx="53949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0B8CC"/>
                </a:solidFill>
                <a:latin typeface="Calibri"/>
              </a:rPr>
              <a:t>Docker Compose for local dev. Kubernetes chart for production. Migrate background execution to Celery + Redis for proper async task queue.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" y="641908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3A4055"/>
                </a:solidFill>
                <a:latin typeface="Calibri"/>
              </a:rPr>
              <a:t>All items above are proposed enhancements — none are currently implemented in the codebase.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2" cy="6858000"/>
          </a:xfrm>
          <a:prstGeom prst="rect">
            <a:avLst/>
          </a:prstGeom>
          <a:solidFill>
            <a:srgbClr val="008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406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28016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69748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00D4FF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3493008"/>
            <a:ext cx="8229600" cy="36576"/>
          </a:xfrm>
          <a:prstGeom prst="rect">
            <a:avLst/>
          </a:prstGeom>
          <a:solidFill>
            <a:srgbClr val="3A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3675887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  <a:latin typeface="Calibri"/>
              </a:rPr>
              <a:t>Project: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3675887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8CC"/>
                </a:solidFill>
                <a:latin typeface="Calibri"/>
              </a:rPr>
              <a:t>GRID07 — Cognitive Routing Infrastructure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114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  <a:latin typeface="Calibri"/>
              </a:rPr>
              <a:t>Student: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4114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8CC"/>
                </a:solidFill>
                <a:latin typeface="Calibri"/>
              </a:rPr>
              <a:t>Ronack Kumar  ·  MCA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55371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  <a:latin typeface="Calibri"/>
              </a:rPr>
              <a:t>Institute: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455371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8CC"/>
                </a:solidFill>
                <a:latin typeface="Calibri"/>
              </a:rPr>
              <a:t>SRM Institute of Science and Technology, Ramapuram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992623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  <a:latin typeface="Calibri"/>
              </a:rPr>
              <a:t>Stack: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4992623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8CC"/>
                </a:solidFill>
                <a:latin typeface="Calibri"/>
              </a:rPr>
              <a:t>Python · FastAPI · LangGraph · LangChain-Groq · Next.js · React 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43153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  <a:latin typeface="Calibri"/>
              </a:rPr>
              <a:t>Source: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543153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B8CC"/>
                </a:solidFill>
                <a:latin typeface="Calibri"/>
              </a:rPr>
              <a:t>github.com / [your-repo-url]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6291072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A4055"/>
                </a:solidFill>
                <a:latin typeface="Calibri"/>
              </a:rPr>
              <a:t>GRID07  ·  MCA Project  ·  SRM Institute of Science and Technology, Ramapuram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